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70" r:id="rId6"/>
    <p:sldId id="271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3" d="100"/>
          <a:sy n="63" d="100"/>
        </p:scale>
        <p:origin x="7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953127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the presentation by introducing the project topic and the focus on understanding what drives mobile gamers to spend money through in-app purchases.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this slide to preview the structure: business problem, dataset, team execution, dashboard plan, status, and next steps.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that the project connects demographic, engagement, and payment data to uncover patterns that can support business decisions in the gaming industry.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sequence of milestones and emphasize that governance and reassignment happened as gaps were identified.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2F7F82-EE0E-846C-DF03-95D59F429A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B0E1F35-E8BD-E1B7-0AE5-DF47FAEED48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676C149-A820-0985-E9F3-A271F579DB5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sequence of milestones and emphasize that governance and reassignment happened as gaps were identified.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274BF9-00EB-7173-2579-ECA08155AF9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850713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4326BF-6A7A-2BD2-0936-3C4137F355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235D404-9ED2-F792-4DE3-F1982A0C8A8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2F43D9D-A328-61B3-A0CB-E48B73830E5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sequence of milestones and emphasize that governance and reassignment happened as gaps were identified.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158C27-0F54-F0E0-4A62-497D27358BC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147642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Highlight that dataset quality and usefulness were more important than simply finding any available data. The selected dataset became the analytical foundation.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Describe the workflow as a pipeline. It starts with raw data, passes through cleaning and analysis, then becomes dashboards and final reporting.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Emphasize the final role structure and how ownership was clarified through the 27 May coordination meeting.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handover slide: the dataset preparation phase was completed and provided clean tables plus SQL scripts for downstream 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Clarify that analysis categories are defined, but final results are not yet recorded in the logs, so the presentation is careful not to invent findings.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governance decision: the visualization component was reassigned to maintain quality and consistency across all deliverables.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this slide to describe the target dashboard experience: interactive filters and executive summaries that translate EDA into business insight.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status slide. Emphasize that most infrastructure and data preparation work is complete, while analytical findings and dashboard output remain the key closure tasks.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Focus on practical lessons for a data analytics project: quality datasets, clear ownership, ongoing documentation, and checkpoint-based project management.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by summarizing the remaining delivery plan and invite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slow">
    <p:push dir="u"/>
  </p:transition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ransition spd="slow">
    <p:push dir="u"/>
  </p:transition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14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wide_high_quality_digital_illustration_3d_rende_batch_1.png"/>
          <p:cNvPicPr>
            <a:picLocks noChangeAspect="1"/>
          </p:cNvPicPr>
          <p:nvPr/>
        </p:nvPicPr>
        <p:blipFill>
          <a:blip r:embed="rId3"/>
          <a:srcRect t="25" b="25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58368" y="1243584"/>
            <a:ext cx="53035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</a:rPr>
              <a:t>Mobile Game</a:t>
            </a:r>
            <a:endParaRPr lang="en-US" sz="3800" dirty="0"/>
          </a:p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</a:rPr>
              <a:t>In-App Purchase</a:t>
            </a:r>
            <a:endParaRPr lang="en-US" sz="3800" dirty="0"/>
          </a:p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</a:rPr>
              <a:t>Behavior Analysis</a:t>
            </a:r>
            <a:endParaRPr lang="en-US" sz="3800" dirty="0"/>
          </a:p>
        </p:txBody>
      </p:sp>
      <p:sp>
        <p:nvSpPr>
          <p:cNvPr id="4" name="Text 1"/>
          <p:cNvSpPr/>
          <p:nvPr/>
        </p:nvSpPr>
        <p:spPr>
          <a:xfrm>
            <a:off x="694944" y="3438144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8C8E8"/>
                </a:solidFill>
              </a:rPr>
              <a:t>Data Analytics Project Presentation</a:t>
            </a:r>
            <a:endParaRPr lang="en-US" sz="1700" dirty="0"/>
          </a:p>
        </p:txBody>
      </p:sp>
      <p:sp>
        <p:nvSpPr>
          <p:cNvPr id="5" name="Text 2"/>
          <p:cNvSpPr/>
          <p:nvPr/>
        </p:nvSpPr>
        <p:spPr>
          <a:xfrm>
            <a:off x="694944" y="3840480"/>
            <a:ext cx="5212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AF2FF"/>
                </a:solidFill>
              </a:rPr>
              <a:t>Daniel Arias • Weican Ye • Arjun Mod • Nikhilesh Iyer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694944" y="4590288"/>
            <a:ext cx="1627632" cy="310896"/>
          </a:xfrm>
          <a:prstGeom prst="rect">
            <a:avLst/>
          </a:prstGeom>
          <a:solidFill>
            <a:srgbClr val="8A5CF6">
              <a:alpha val="95000"/>
            </a:srgbClr>
          </a:solidFill>
          <a:ln>
            <a:solidFill>
              <a:srgbClr val="8A5CF6">
                <a:alpha val="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Gaming Analytics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2505456" y="4590288"/>
            <a:ext cx="1828800" cy="310896"/>
          </a:xfrm>
          <a:prstGeom prst="rect">
            <a:avLst/>
          </a:prstGeom>
          <a:solidFill>
            <a:srgbClr val="2F80ED">
              <a:alpha val="95000"/>
            </a:srgbClr>
          </a:solidFill>
          <a:ln>
            <a:solidFill>
              <a:srgbClr val="2F80ED">
                <a:alpha val="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Purchase Behavior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4517136" y="4590288"/>
            <a:ext cx="1024128" cy="310896"/>
          </a:xfrm>
          <a:prstGeom prst="rect">
            <a:avLst/>
          </a:prstGeom>
          <a:solidFill>
            <a:srgbClr val="2EC4B6">
              <a:alpha val="95000"/>
            </a:srgbClr>
          </a:solidFill>
          <a:ln>
            <a:solidFill>
              <a:srgbClr val="2EC4B6">
                <a:alpha val="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Power BI</a:t>
            </a:r>
            <a:endParaRPr lang="en-US" sz="1200" dirty="0"/>
          </a:p>
        </p:txBody>
      </p:sp>
    </p:spTree>
  </p:cSld>
  <p:clrMapOvr>
    <a:masterClrMapping/>
  </p:clrMapOvr>
  <p:transition spd="slow">
    <p:push dir="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814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81381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</a:rPr>
              <a:t>Presentation Roadmap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66928" y="804672"/>
            <a:ext cx="7955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8C8E8"/>
                </a:solidFill>
              </a:rPr>
              <a:t>From project idea to final delivery plan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13232" y="1417320"/>
            <a:ext cx="493776" cy="493776"/>
          </a:xfrm>
          <a:prstGeom prst="rect">
            <a:avLst/>
          </a:prstGeom>
          <a:solidFill>
            <a:srgbClr val="2F80ED"/>
          </a:solidFill>
          <a:ln>
            <a:solidFill>
              <a:srgbClr val="FFFFFF">
                <a:alpha val="500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1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417320" y="144475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Project context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417320" y="1746504"/>
            <a:ext cx="7680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AB7C4"/>
                </a:solidFill>
              </a:rPr>
              <a:t>What we are analyzing and why it matters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13232" y="2377440"/>
            <a:ext cx="493776" cy="493776"/>
          </a:xfrm>
          <a:prstGeom prst="rect">
            <a:avLst/>
          </a:prstGeom>
          <a:solidFill>
            <a:srgbClr val="8A5CF6"/>
          </a:solidFill>
          <a:ln>
            <a:solidFill>
              <a:srgbClr val="FFFFFF">
                <a:alpha val="500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2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417320" y="240487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Data foundation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417320" y="2706624"/>
            <a:ext cx="7680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AB7C4"/>
                </a:solidFill>
              </a:rPr>
              <a:t>Dataset evaluation, selection, cleaning, and handover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13232" y="3337560"/>
            <a:ext cx="493776" cy="493776"/>
          </a:xfrm>
          <a:prstGeom prst="rect">
            <a:avLst/>
          </a:prstGeom>
          <a:solidFill>
            <a:srgbClr val="2F80ED"/>
          </a:solidFill>
          <a:ln>
            <a:solidFill>
              <a:srgbClr val="FFFFFF">
                <a:alpha val="500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3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417320" y="336499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Execution plan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417320" y="3666744"/>
            <a:ext cx="7680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AB7C4"/>
                </a:solidFill>
              </a:rPr>
              <a:t>Roles, tools, workflow, and project governance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13232" y="4297680"/>
            <a:ext cx="493776" cy="493776"/>
          </a:xfrm>
          <a:prstGeom prst="rect">
            <a:avLst/>
          </a:prstGeom>
          <a:solidFill>
            <a:srgbClr val="8A5CF6"/>
          </a:solidFill>
          <a:ln>
            <a:solidFill>
              <a:srgbClr val="FFFFFF">
                <a:alpha val="500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4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417320" y="432511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Dashboard direction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417320" y="4626864"/>
            <a:ext cx="7680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AB7C4"/>
                </a:solidFill>
              </a:rPr>
              <a:t>Power BI scope and executive insight plan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13232" y="5257800"/>
            <a:ext cx="493776" cy="493776"/>
          </a:xfrm>
          <a:prstGeom prst="rect">
            <a:avLst/>
          </a:prstGeom>
          <a:solidFill>
            <a:srgbClr val="2F80ED"/>
          </a:solidFill>
          <a:ln>
            <a:solidFill>
              <a:srgbClr val="FFFFFF">
                <a:alpha val="500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5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417320" y="528523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Status &amp; next steps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417320" y="5586984"/>
            <a:ext cx="7680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AB7C4"/>
                </a:solidFill>
              </a:rPr>
              <a:t>What is done, in progress, and remaining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9784080" y="1005840"/>
            <a:ext cx="1645920" cy="1645920"/>
          </a:xfrm>
          <a:prstGeom prst="arc">
            <a:avLst/>
          </a:prstGeom>
          <a:noFill/>
          <a:ln w="12700">
            <a:solidFill>
              <a:srgbClr val="18C8E8">
                <a:alpha val="95000"/>
              </a:srgbClr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0" name="Text 18"/>
          <p:cNvSpPr/>
          <p:nvPr/>
        </p:nvSpPr>
        <p:spPr>
          <a:xfrm>
            <a:off x="9802368" y="1682496"/>
            <a:ext cx="1600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End-to-end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analytics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story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9400032" y="374904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AB7C4"/>
                </a:solidFill>
              </a:rPr>
              <a:t>Source: GitHub logs and readme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57200" y="6510528"/>
            <a:ext cx="6949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AB7C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Mobile Game In-App Purchase Behavior Analysis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11384280" y="6464808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B7C4"/>
                </a:solidFill>
              </a:rPr>
              <a:t>2</a:t>
            </a:r>
            <a:endParaRPr lang="en-US" sz="900" dirty="0"/>
          </a:p>
        </p:txBody>
      </p:sp>
    </p:spTree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814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81381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</a:rPr>
              <a:t>Project Objective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66928" y="804672"/>
            <a:ext cx="7955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8C8E8"/>
                </a:solidFill>
              </a:rPr>
              <a:t>Understand purchase behavior and turn raw gaming data into business-ready insight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85800" y="130048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8C8E8"/>
                </a:solidFill>
              </a:rPr>
              <a:t>Core question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85800" y="1593088"/>
            <a:ext cx="5486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What factors influence mobile gamers to make in-game purchases?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777240" y="2928112"/>
            <a:ext cx="3017520" cy="365760"/>
          </a:xfrm>
          <a:prstGeom prst="rect">
            <a:avLst/>
          </a:prstGeom>
          <a:solidFill>
            <a:srgbClr val="112B46"/>
          </a:solidFill>
          <a:ln>
            <a:solidFill>
              <a:srgbClr val="18C8E8">
                <a:alpha val="60000"/>
              </a:srgbClr>
            </a:solidFill>
          </a:ln>
        </p:spPr>
        <p:txBody>
          <a:bodyPr wrap="square" lIns="1143" tIns="1143" rIns="1143" bIns="1143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Player profile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50392" y="3421888"/>
            <a:ext cx="2880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AAB7C4"/>
                </a:solidFill>
              </a:rPr>
              <a:t>Age, gender, geography, device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480560" y="2928112"/>
            <a:ext cx="3017520" cy="365760"/>
          </a:xfrm>
          <a:prstGeom prst="rect">
            <a:avLst/>
          </a:prstGeom>
          <a:solidFill>
            <a:srgbClr val="112B46"/>
          </a:solidFill>
          <a:ln>
            <a:solidFill>
              <a:srgbClr val="18C8E8">
                <a:alpha val="60000"/>
              </a:srgbClr>
            </a:solidFill>
          </a:ln>
        </p:spPr>
        <p:txBody>
          <a:bodyPr wrap="square" lIns="1143" tIns="1143" rIns="1143" bIns="1143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Engagement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4553712" y="3421888"/>
            <a:ext cx="2880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AAB7C4"/>
                </a:solidFill>
              </a:rPr>
              <a:t>Session behavior, activity, game genre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183880" y="2928112"/>
            <a:ext cx="3017520" cy="365760"/>
          </a:xfrm>
          <a:prstGeom prst="rect">
            <a:avLst/>
          </a:prstGeom>
          <a:solidFill>
            <a:srgbClr val="112B46"/>
          </a:solidFill>
          <a:ln>
            <a:solidFill>
              <a:srgbClr val="18C8E8">
                <a:alpha val="60000"/>
              </a:srgbClr>
            </a:solidFill>
          </a:ln>
        </p:spPr>
        <p:txBody>
          <a:bodyPr wrap="square" lIns="1143" tIns="1143" rIns="1143" bIns="1143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Monetization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8257032" y="3421888"/>
            <a:ext cx="2880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AAB7C4"/>
                </a:solidFill>
              </a:rPr>
              <a:t>Purchase amount, segment, payment method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529584" y="4756912"/>
            <a:ext cx="1005840" cy="457200"/>
          </a:xfrm>
          <a:prstGeom prst="chevron">
            <a:avLst/>
          </a:prstGeom>
          <a:solidFill>
            <a:srgbClr val="18C8E8"/>
          </a:solidFill>
          <a:ln w="12700">
            <a:solidFill>
              <a:srgbClr val="18C8E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3" name="Shape 11"/>
          <p:cNvSpPr/>
          <p:nvPr/>
        </p:nvSpPr>
        <p:spPr>
          <a:xfrm>
            <a:off x="7434072" y="4756912"/>
            <a:ext cx="1005840" cy="457200"/>
          </a:xfrm>
          <a:prstGeom prst="chevron">
            <a:avLst/>
          </a:prstGeom>
          <a:solidFill>
            <a:srgbClr val="8A5CF6"/>
          </a:solidFill>
          <a:ln w="12700">
            <a:solidFill>
              <a:srgbClr val="8A5C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4" name="Text 12"/>
          <p:cNvSpPr/>
          <p:nvPr/>
        </p:nvSpPr>
        <p:spPr>
          <a:xfrm>
            <a:off x="3474720" y="5506720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2C94C"/>
                </a:solidFill>
              </a:rPr>
              <a:t>Data → Patterns → Business Decisions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457200" y="6510528"/>
            <a:ext cx="6949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AB7C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Mobile Game In-App Purchase Behavior Analysis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11384280" y="6464808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B7C4"/>
                </a:solidFill>
              </a:rPr>
              <a:t>3</a:t>
            </a:r>
            <a:endParaRPr lang="en-US" sz="900" dirty="0"/>
          </a:p>
        </p:txBody>
      </p:sp>
    </p:spTree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814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81381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</a:rPr>
              <a:t>Project Timeline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66928" y="804672"/>
            <a:ext cx="7955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8C8E8"/>
                </a:solidFill>
              </a:rPr>
              <a:t>Key milestones recorded in the project logs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822960" y="3337560"/>
            <a:ext cx="10515600" cy="0"/>
          </a:xfrm>
          <a:prstGeom prst="line">
            <a:avLst/>
          </a:prstGeom>
          <a:noFill/>
          <a:ln w="12700">
            <a:solidFill>
              <a:srgbClr val="18C8E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de-DE"/>
          </a:p>
        </p:txBody>
      </p:sp>
      <p:sp>
        <p:nvSpPr>
          <p:cNvPr id="5" name="Shape 3"/>
          <p:cNvSpPr/>
          <p:nvPr/>
        </p:nvSpPr>
        <p:spPr>
          <a:xfrm>
            <a:off x="777240" y="3154680"/>
            <a:ext cx="384048" cy="384048"/>
          </a:xfrm>
          <a:prstGeom prst="ellipse">
            <a:avLst/>
          </a:prstGeom>
          <a:solidFill>
            <a:srgbClr val="2F80ED"/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6" name="Text 4"/>
          <p:cNvSpPr/>
          <p:nvPr/>
        </p:nvSpPr>
        <p:spPr>
          <a:xfrm>
            <a:off x="502920" y="2487168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02 May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38328" y="3703320"/>
            <a:ext cx="12618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AAB7C4"/>
                </a:solidFill>
              </a:rPr>
              <a:t>Team formation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AAB7C4"/>
                </a:solidFill>
              </a:rPr>
              <a:t>Gaming domain selected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743200" y="3154680"/>
            <a:ext cx="384048" cy="384048"/>
          </a:xfrm>
          <a:prstGeom prst="ellipse">
            <a:avLst/>
          </a:prstGeom>
          <a:solidFill>
            <a:srgbClr val="2F80ED"/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9" name="Text 7"/>
          <p:cNvSpPr/>
          <p:nvPr/>
        </p:nvSpPr>
        <p:spPr>
          <a:xfrm>
            <a:off x="2468880" y="2487168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03 May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304288" y="3703320"/>
            <a:ext cx="12618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AAB7C4"/>
                </a:solidFill>
              </a:rPr>
              <a:t>Repository setup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AAB7C4"/>
                </a:solidFill>
              </a:rPr>
              <a:t>Problem statement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09160" y="3154680"/>
            <a:ext cx="384048" cy="384048"/>
          </a:xfrm>
          <a:prstGeom prst="ellipse">
            <a:avLst/>
          </a:prstGeom>
          <a:solidFill>
            <a:srgbClr val="2F80ED"/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2" name="Text 10"/>
          <p:cNvSpPr/>
          <p:nvPr/>
        </p:nvSpPr>
        <p:spPr>
          <a:xfrm>
            <a:off x="4434840" y="2487168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15 May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270248" y="3703320"/>
            <a:ext cx="12618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AAB7C4"/>
                </a:solidFill>
              </a:rPr>
              <a:t>Planning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AAB7C4"/>
                </a:solidFill>
              </a:rPr>
              <a:t>Gantt + workflow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675120" y="3154680"/>
            <a:ext cx="384048" cy="384048"/>
          </a:xfrm>
          <a:prstGeom prst="ellipse">
            <a:avLst/>
          </a:prstGeom>
          <a:solidFill>
            <a:srgbClr val="2F80ED"/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5" name="Text 13"/>
          <p:cNvSpPr/>
          <p:nvPr/>
        </p:nvSpPr>
        <p:spPr>
          <a:xfrm>
            <a:off x="6400800" y="2487168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16–17 May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236208" y="3703320"/>
            <a:ext cx="12618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AAB7C4"/>
                </a:solidFill>
              </a:rPr>
              <a:t>Dataset evaluation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AAB7C4"/>
                </a:solidFill>
              </a:rPr>
              <a:t>Repository alignment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641080" y="3154680"/>
            <a:ext cx="384048" cy="384048"/>
          </a:xfrm>
          <a:prstGeom prst="ellipse">
            <a:avLst/>
          </a:prstGeom>
          <a:solidFill>
            <a:srgbClr val="8A5CF6"/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8" name="Text 16"/>
          <p:cNvSpPr/>
          <p:nvPr/>
        </p:nvSpPr>
        <p:spPr>
          <a:xfrm>
            <a:off x="8366760" y="2487168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22–27 May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202168" y="3703320"/>
            <a:ext cx="12618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AAB7C4"/>
                </a:solidFill>
              </a:rPr>
              <a:t>Progress prep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AAB7C4"/>
                </a:solidFill>
              </a:rPr>
              <a:t>60% target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0607040" y="3154680"/>
            <a:ext cx="384048" cy="384048"/>
          </a:xfrm>
          <a:prstGeom prst="ellipse">
            <a:avLst/>
          </a:prstGeom>
          <a:solidFill>
            <a:srgbClr val="8A5CF6"/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1" name="Text 19"/>
          <p:cNvSpPr/>
          <p:nvPr/>
        </p:nvSpPr>
        <p:spPr>
          <a:xfrm>
            <a:off x="10332720" y="2487168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Late May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0168128" y="3703320"/>
            <a:ext cx="12618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AAB7C4"/>
                </a:solidFill>
              </a:rPr>
              <a:t>Data handover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AAB7C4"/>
                </a:solidFill>
              </a:rPr>
              <a:t>Visualization adjustment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280160" y="5166360"/>
            <a:ext cx="9692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</a:rPr>
              <a:t>The project evolved from domain selection into a structured analytics project with defined data, roles, tools, and deliverables.</a:t>
            </a:r>
            <a:endParaRPr lang="en-US" sz="2100" dirty="0"/>
          </a:p>
        </p:txBody>
      </p:sp>
      <p:sp>
        <p:nvSpPr>
          <p:cNvPr id="24" name="Text 22"/>
          <p:cNvSpPr/>
          <p:nvPr/>
        </p:nvSpPr>
        <p:spPr>
          <a:xfrm>
            <a:off x="457200" y="6510528"/>
            <a:ext cx="6949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AB7C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Mobile Game In-App Purchase Behavior Analysis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11384280" y="6464808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B7C4"/>
                </a:solidFill>
              </a:rPr>
              <a:t>4</a:t>
            </a:r>
            <a:endParaRPr lang="en-US" sz="900" dirty="0"/>
          </a:p>
        </p:txBody>
      </p:sp>
    </p:spTree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42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23F26EA-8C39-EFBF-31BA-DCB57F84FD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167EA8A6-8F9B-D0D0-A16D-25A23C01A79B}"/>
              </a:ext>
            </a:extLst>
          </p:cNvPr>
          <p:cNvSpPr/>
          <p:nvPr/>
        </p:nvSpPr>
        <p:spPr>
          <a:xfrm>
            <a:off x="548640" y="347472"/>
            <a:ext cx="81381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</a:rPr>
              <a:t>Project Gantt Chart</a:t>
            </a:r>
            <a:endParaRPr lang="en-US" sz="2700" dirty="0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B0C126DC-0F3B-38A0-9A98-EDA2BCACB553}"/>
              </a:ext>
            </a:extLst>
          </p:cNvPr>
          <p:cNvSpPr/>
          <p:nvPr/>
        </p:nvSpPr>
        <p:spPr>
          <a:xfrm>
            <a:off x="457200" y="6510528"/>
            <a:ext cx="6949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AB7C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Mobile Game In-App Purchase Behavior Analysis</a:t>
            </a:r>
            <a:endParaRPr lang="en-US" sz="800" dirty="0"/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EA66668C-991F-1F81-B0B7-1ED04395DB45}"/>
              </a:ext>
            </a:extLst>
          </p:cNvPr>
          <p:cNvSpPr/>
          <p:nvPr/>
        </p:nvSpPr>
        <p:spPr>
          <a:xfrm>
            <a:off x="11384280" y="6464808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B7C4"/>
                </a:solidFill>
              </a:rPr>
              <a:t>4</a:t>
            </a:r>
            <a:endParaRPr lang="en-US" sz="900" dirty="0"/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24277B9A-29C8-2141-BBA3-E20FE7745D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533233"/>
            <a:ext cx="10566400" cy="35712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8261831"/>
      </p:ext>
    </p:extLst>
  </p:cSld>
  <p:clrMapOvr>
    <a:masterClrMapping/>
  </p:clrMapOvr>
  <p:transition spd="slow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42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9CA3E7D-BD61-F064-5B8E-4147B82889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24F8A33B-87A3-9C5A-E370-DF9D0431088E}"/>
              </a:ext>
            </a:extLst>
          </p:cNvPr>
          <p:cNvSpPr/>
          <p:nvPr/>
        </p:nvSpPr>
        <p:spPr>
          <a:xfrm>
            <a:off x="548640" y="347472"/>
            <a:ext cx="81381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</a:rPr>
              <a:t>Project Workflow Diagram</a:t>
            </a:r>
            <a:endParaRPr lang="en-US" sz="2700" dirty="0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72B32D5A-F7F2-15FB-8988-8D6953EA6A73}"/>
              </a:ext>
            </a:extLst>
          </p:cNvPr>
          <p:cNvSpPr/>
          <p:nvPr/>
        </p:nvSpPr>
        <p:spPr>
          <a:xfrm>
            <a:off x="457200" y="6510528"/>
            <a:ext cx="6949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AB7C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Mobile Game In-App Purchase Behavior Analysis</a:t>
            </a:r>
            <a:endParaRPr lang="en-US" sz="800" dirty="0"/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542AC9C1-D5D7-FDA0-72ED-5D4C171D3498}"/>
              </a:ext>
            </a:extLst>
          </p:cNvPr>
          <p:cNvSpPr/>
          <p:nvPr/>
        </p:nvSpPr>
        <p:spPr>
          <a:xfrm>
            <a:off x="11384280" y="6464808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B7C4"/>
                </a:solidFill>
              </a:rPr>
              <a:t>4</a:t>
            </a:r>
            <a:endParaRPr lang="en-US" sz="9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3322E86-9DF3-44F9-7B4C-370024C6239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0732"/>
          <a:stretch>
            <a:fillRect/>
          </a:stretch>
        </p:blipFill>
        <p:spPr>
          <a:xfrm>
            <a:off x="3891279" y="837073"/>
            <a:ext cx="4937761" cy="58049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6599220"/>
      </p:ext>
    </p:extLst>
  </p:cSld>
  <p:clrMapOvr>
    <a:masterClrMapping/>
  </p:clrMapOvr>
  <p:transition spd="slow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814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81381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</a:rPr>
              <a:t>Dataset Selection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66928" y="804672"/>
            <a:ext cx="7955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8C8E8"/>
                </a:solidFill>
              </a:rPr>
              <a:t>The team selected the dataset with the strongest analytical potential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1234440"/>
            <a:ext cx="3749040" cy="411480"/>
          </a:xfrm>
          <a:prstGeom prst="rect">
            <a:avLst/>
          </a:prstGeom>
          <a:solidFill>
            <a:srgbClr val="2F80ED"/>
          </a:solidFill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Dataset considered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389120" y="1234440"/>
            <a:ext cx="4846320" cy="411480"/>
          </a:xfrm>
          <a:prstGeom prst="rect">
            <a:avLst/>
          </a:prstGeom>
          <a:solidFill>
            <a:srgbClr val="2F80ED"/>
          </a:solidFill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Strengths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281160" y="1234440"/>
            <a:ext cx="1965960" cy="411480"/>
          </a:xfrm>
          <a:prstGeom prst="rect">
            <a:avLst/>
          </a:prstGeom>
          <a:solidFill>
            <a:srgbClr val="2F80ED"/>
          </a:solidFill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Decision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94360" y="1764792"/>
            <a:ext cx="3749040" cy="566928"/>
          </a:xfrm>
          <a:prstGeom prst="rect">
            <a:avLst/>
          </a:prstGeom>
          <a:solidFill>
            <a:srgbClr val="0D1E33">
              <a:alpha val="75000"/>
            </a:srgbClr>
          </a:solidFill>
          <a:ln>
            <a:solidFill>
              <a:srgbClr val="42526E">
                <a:alpha val="55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Mobile Game In-App Purchases 2025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389120" y="1764792"/>
            <a:ext cx="4846320" cy="566928"/>
          </a:xfrm>
          <a:prstGeom prst="rect">
            <a:avLst/>
          </a:prstGeom>
          <a:solidFill>
            <a:srgbClr val="0D1E33">
              <a:alpha val="75000"/>
            </a:srgbClr>
          </a:solidFill>
          <a:ln>
            <a:solidFill>
              <a:srgbClr val="42526E">
                <a:alpha val="55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Rich purchase fields and monetization variables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281160" y="1764792"/>
            <a:ext cx="1965960" cy="566928"/>
          </a:xfrm>
          <a:prstGeom prst="rect">
            <a:avLst/>
          </a:prstGeom>
          <a:solidFill>
            <a:srgbClr val="0D1E33">
              <a:alpha val="75000"/>
            </a:srgbClr>
          </a:solidFill>
          <a:ln>
            <a:solidFill>
              <a:srgbClr val="42526E">
                <a:alpha val="55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Reference only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94360" y="2542032"/>
            <a:ext cx="3749040" cy="566928"/>
          </a:xfrm>
          <a:prstGeom prst="rect">
            <a:avLst/>
          </a:prstGeom>
          <a:solidFill>
            <a:srgbClr val="0D1E33">
              <a:alpha val="75000"/>
            </a:srgbClr>
          </a:solidFill>
          <a:ln>
            <a:solidFill>
              <a:srgbClr val="42526E">
                <a:alpha val="55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Mobile Game User Data Analysis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389120" y="2542032"/>
            <a:ext cx="4846320" cy="566928"/>
          </a:xfrm>
          <a:prstGeom prst="rect">
            <a:avLst/>
          </a:prstGeom>
          <a:solidFill>
            <a:srgbClr val="0D1E33">
              <a:alpha val="75000"/>
            </a:srgbClr>
          </a:solidFill>
          <a:ln>
            <a:solidFill>
              <a:srgbClr val="42526E">
                <a:alpha val="55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Behavioral focus and purchasing patterns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281160" y="2542032"/>
            <a:ext cx="1965960" cy="566928"/>
          </a:xfrm>
          <a:prstGeom prst="rect">
            <a:avLst/>
          </a:prstGeom>
          <a:solidFill>
            <a:srgbClr val="0D1E33">
              <a:alpha val="75000"/>
            </a:srgbClr>
          </a:solidFill>
          <a:ln>
            <a:solidFill>
              <a:srgbClr val="42526E">
                <a:alpha val="55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Not primary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94360" y="3319272"/>
            <a:ext cx="3749040" cy="566928"/>
          </a:xfrm>
          <a:prstGeom prst="rect">
            <a:avLst/>
          </a:prstGeom>
          <a:solidFill>
            <a:srgbClr val="112B46"/>
          </a:solidFill>
          <a:ln>
            <a:solidFill>
              <a:srgbClr val="42526E">
                <a:alpha val="55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Predict Online Gaming Behavior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389120" y="3319272"/>
            <a:ext cx="4846320" cy="566928"/>
          </a:xfrm>
          <a:prstGeom prst="rect">
            <a:avLst/>
          </a:prstGeom>
          <a:solidFill>
            <a:srgbClr val="112B46"/>
          </a:solidFill>
          <a:ln>
            <a:solidFill>
              <a:srgbClr val="42526E">
                <a:alpha val="55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~40,000 records; clean structure; big potential for analysis so far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281160" y="3319272"/>
            <a:ext cx="1965960" cy="566928"/>
          </a:xfrm>
          <a:prstGeom prst="rect">
            <a:avLst/>
          </a:prstGeom>
          <a:solidFill>
            <a:srgbClr val="112B46"/>
          </a:solidFill>
          <a:ln>
            <a:solidFill>
              <a:srgbClr val="42526E">
                <a:alpha val="55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Selected at initial stage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31520" y="480060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8C8E8"/>
                </a:solidFill>
              </a:rPr>
              <a:t>Selection criteria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731520" y="5257800"/>
            <a:ext cx="1600200" cy="310896"/>
          </a:xfrm>
          <a:prstGeom prst="rect">
            <a:avLst/>
          </a:prstGeom>
          <a:solidFill>
            <a:srgbClr val="2F80ED">
              <a:alpha val="95000"/>
            </a:srgbClr>
          </a:solidFill>
          <a:ln>
            <a:solidFill>
              <a:srgbClr val="2F80ED">
                <a:alpha val="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Size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761488" y="5257800"/>
            <a:ext cx="1600200" cy="310896"/>
          </a:xfrm>
          <a:prstGeom prst="rect">
            <a:avLst/>
          </a:prstGeom>
          <a:solidFill>
            <a:srgbClr val="8A5CF6">
              <a:alpha val="95000"/>
            </a:srgbClr>
          </a:solidFill>
          <a:ln>
            <a:solidFill>
              <a:srgbClr val="8A5CF6">
                <a:alpha val="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Quality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791456" y="5257800"/>
            <a:ext cx="1600200" cy="310896"/>
          </a:xfrm>
          <a:prstGeom prst="rect">
            <a:avLst/>
          </a:prstGeom>
          <a:solidFill>
            <a:srgbClr val="2F80ED">
              <a:alpha val="95000"/>
            </a:srgbClr>
          </a:solidFill>
          <a:ln>
            <a:solidFill>
              <a:srgbClr val="2F80ED">
                <a:alpha val="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Missing values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821424" y="5257800"/>
            <a:ext cx="1600200" cy="310896"/>
          </a:xfrm>
          <a:prstGeom prst="rect">
            <a:avLst/>
          </a:prstGeom>
          <a:solidFill>
            <a:srgbClr val="8A5CF6">
              <a:alpha val="95000"/>
            </a:srgbClr>
          </a:solidFill>
          <a:ln>
            <a:solidFill>
              <a:srgbClr val="8A5CF6">
                <a:alpha val="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Business relevance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851392" y="5257800"/>
            <a:ext cx="1600200" cy="310896"/>
          </a:xfrm>
          <a:prstGeom prst="rect">
            <a:avLst/>
          </a:prstGeom>
          <a:solidFill>
            <a:srgbClr val="2F80ED">
              <a:alpha val="95000"/>
            </a:srgbClr>
          </a:solidFill>
          <a:ln>
            <a:solidFill>
              <a:srgbClr val="2F80ED">
                <a:alpha val="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Visualization potential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57200" y="6510528"/>
            <a:ext cx="6949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AB7C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Mobile Game In-App Purchase Behavior Analysis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11384280" y="6464808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B7C4"/>
                </a:solidFill>
              </a:rPr>
              <a:t>5</a:t>
            </a:r>
            <a:endParaRPr lang="en-US" sz="900" dirty="0"/>
          </a:p>
        </p:txBody>
      </p:sp>
      <p:sp>
        <p:nvSpPr>
          <p:cNvPr id="24" name="Text 11">
            <a:extLst>
              <a:ext uri="{FF2B5EF4-FFF2-40B4-BE49-F238E27FC236}">
                <a16:creationId xmlns:a16="http://schemas.microsoft.com/office/drawing/2014/main" id="{1E02F044-CAC6-154A-3D6B-99DACD92F685}"/>
              </a:ext>
            </a:extLst>
          </p:cNvPr>
          <p:cNvSpPr/>
          <p:nvPr/>
        </p:nvSpPr>
        <p:spPr>
          <a:xfrm>
            <a:off x="594360" y="4133088"/>
            <a:ext cx="3749040" cy="566928"/>
          </a:xfrm>
          <a:prstGeom prst="rect">
            <a:avLst/>
          </a:prstGeom>
          <a:solidFill>
            <a:srgbClr val="112B46"/>
          </a:solidFill>
          <a:ln>
            <a:solidFill>
              <a:srgbClr val="42526E">
                <a:alpha val="55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r>
              <a:rPr lang="en-US" sz="1200" dirty="0">
                <a:solidFill>
                  <a:srgbClr val="FFFFFF"/>
                </a:solidFill>
              </a:rPr>
              <a:t>Mobile Game In-App Purchases 2025</a:t>
            </a:r>
            <a:endParaRPr lang="en-US" sz="1200" dirty="0"/>
          </a:p>
        </p:txBody>
      </p:sp>
      <p:sp>
        <p:nvSpPr>
          <p:cNvPr id="25" name="Text 12">
            <a:extLst>
              <a:ext uri="{FF2B5EF4-FFF2-40B4-BE49-F238E27FC236}">
                <a16:creationId xmlns:a16="http://schemas.microsoft.com/office/drawing/2014/main" id="{3A2DD4C7-430B-51AF-31B3-D0022C21280A}"/>
              </a:ext>
            </a:extLst>
          </p:cNvPr>
          <p:cNvSpPr/>
          <p:nvPr/>
        </p:nvSpPr>
        <p:spPr>
          <a:xfrm>
            <a:off x="4389120" y="4133088"/>
            <a:ext cx="4846320" cy="566928"/>
          </a:xfrm>
          <a:prstGeom prst="rect">
            <a:avLst/>
          </a:prstGeom>
          <a:solidFill>
            <a:srgbClr val="112B46"/>
          </a:solidFill>
          <a:ln>
            <a:solidFill>
              <a:srgbClr val="42526E">
                <a:alpha val="55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~3,000 records; more important features like amount spent; player and purchase details included in the same dataset.</a:t>
            </a:r>
            <a:endParaRPr lang="en-US" sz="1200" dirty="0"/>
          </a:p>
        </p:txBody>
      </p:sp>
      <p:sp>
        <p:nvSpPr>
          <p:cNvPr id="26" name="Text 13">
            <a:extLst>
              <a:ext uri="{FF2B5EF4-FFF2-40B4-BE49-F238E27FC236}">
                <a16:creationId xmlns:a16="http://schemas.microsoft.com/office/drawing/2014/main" id="{E6FBD962-BDB1-6777-885B-6813D0D0E602}"/>
              </a:ext>
            </a:extLst>
          </p:cNvPr>
          <p:cNvSpPr/>
          <p:nvPr/>
        </p:nvSpPr>
        <p:spPr>
          <a:xfrm>
            <a:off x="9281160" y="4133088"/>
            <a:ext cx="1965960" cy="566928"/>
          </a:xfrm>
          <a:prstGeom prst="rect">
            <a:avLst/>
          </a:prstGeom>
          <a:solidFill>
            <a:srgbClr val="112B46"/>
          </a:solidFill>
          <a:ln>
            <a:solidFill>
              <a:srgbClr val="42526E">
                <a:alpha val="55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Selected after pre-processing</a:t>
            </a:r>
            <a:endParaRPr lang="en-US" sz="1200" dirty="0"/>
          </a:p>
        </p:txBody>
      </p:sp>
    </p:spTree>
  </p:cSld>
  <p:clrMapOvr>
    <a:masterClrMapping/>
  </p:clrMapOvr>
  <p:transition spd="slow">
    <p:push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814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81381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</a:rPr>
              <a:t>End-to-End Workflow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66928" y="804672"/>
            <a:ext cx="7955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8C8E8"/>
                </a:solidFill>
              </a:rPr>
              <a:t>How the team moves from raw data to presentation-ready insight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1828800"/>
            <a:ext cx="502920" cy="502920"/>
          </a:xfrm>
          <a:prstGeom prst="rect">
            <a:avLst/>
          </a:prstGeom>
          <a:solidFill>
            <a:srgbClr val="2F80ED"/>
          </a:solidFill>
          <a:ln>
            <a:solidFill>
              <a:srgbClr val="FFFFFF">
                <a:alpha val="1000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1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40080" y="2578608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Raw dataset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2971800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AAB7C4"/>
                </a:solidFill>
              </a:rPr>
              <a:t>Kaggle source + SQL scripts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167128" y="1920240"/>
            <a:ext cx="640080" cy="347472"/>
          </a:xfrm>
          <a:prstGeom prst="chevron">
            <a:avLst/>
          </a:prstGeom>
          <a:solidFill>
            <a:srgbClr val="18C8E8">
              <a:alpha val="80000"/>
            </a:srgbClr>
          </a:solidFill>
          <a:ln w="12700">
            <a:solidFill>
              <a:srgbClr val="18C8E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8" name="Text 6"/>
          <p:cNvSpPr/>
          <p:nvPr/>
        </p:nvSpPr>
        <p:spPr>
          <a:xfrm>
            <a:off x="2898648" y="1828800"/>
            <a:ext cx="502920" cy="502920"/>
          </a:xfrm>
          <a:prstGeom prst="rect">
            <a:avLst/>
          </a:prstGeom>
          <a:solidFill>
            <a:srgbClr val="2F80ED"/>
          </a:solidFill>
          <a:ln>
            <a:solidFill>
              <a:srgbClr val="FFFFFF">
                <a:alpha val="1000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2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2944368" y="2578608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Data engineering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944368" y="2971800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AAB7C4"/>
                </a:solidFill>
              </a:rPr>
              <a:t>Cleaning, transformation, grouping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471416" y="1920240"/>
            <a:ext cx="640080" cy="347472"/>
          </a:xfrm>
          <a:prstGeom prst="chevron">
            <a:avLst/>
          </a:prstGeom>
          <a:solidFill>
            <a:srgbClr val="18C8E8">
              <a:alpha val="80000"/>
            </a:srgbClr>
          </a:solidFill>
          <a:ln w="12700">
            <a:solidFill>
              <a:srgbClr val="18C8E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2" name="Text 10"/>
          <p:cNvSpPr/>
          <p:nvPr/>
        </p:nvSpPr>
        <p:spPr>
          <a:xfrm>
            <a:off x="5202936" y="1828800"/>
            <a:ext cx="502920" cy="502920"/>
          </a:xfrm>
          <a:prstGeom prst="rect">
            <a:avLst/>
          </a:prstGeom>
          <a:solidFill>
            <a:srgbClr val="8A5CF6"/>
          </a:solidFill>
          <a:ln>
            <a:solidFill>
              <a:srgbClr val="FFFFFF">
                <a:alpha val="1000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3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5248656" y="2578608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EDA &amp; statistics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248656" y="2971800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AAB7C4"/>
                </a:solidFill>
              </a:rPr>
              <a:t>Pattern discovery and interpretation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775704" y="1920240"/>
            <a:ext cx="640080" cy="347472"/>
          </a:xfrm>
          <a:prstGeom prst="chevron">
            <a:avLst/>
          </a:prstGeom>
          <a:solidFill>
            <a:srgbClr val="18C8E8">
              <a:alpha val="80000"/>
            </a:srgbClr>
          </a:solidFill>
          <a:ln w="12700">
            <a:solidFill>
              <a:srgbClr val="18C8E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6" name="Text 14"/>
          <p:cNvSpPr/>
          <p:nvPr/>
        </p:nvSpPr>
        <p:spPr>
          <a:xfrm>
            <a:off x="7507224" y="1828800"/>
            <a:ext cx="502920" cy="502920"/>
          </a:xfrm>
          <a:prstGeom prst="rect">
            <a:avLst/>
          </a:prstGeom>
          <a:solidFill>
            <a:srgbClr val="8A5CF6"/>
          </a:solidFill>
          <a:ln>
            <a:solidFill>
              <a:srgbClr val="FFFFFF">
                <a:alpha val="1000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4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7552944" y="2578608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Power BI dashboard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552944" y="2971800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AAB7C4"/>
                </a:solidFill>
              </a:rPr>
              <a:t>Interactive business views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9079992" y="1920240"/>
            <a:ext cx="640080" cy="347472"/>
          </a:xfrm>
          <a:prstGeom prst="chevron">
            <a:avLst/>
          </a:prstGeom>
          <a:solidFill>
            <a:srgbClr val="18C8E8">
              <a:alpha val="80000"/>
            </a:srgbClr>
          </a:solidFill>
          <a:ln w="12700">
            <a:solidFill>
              <a:srgbClr val="18C8E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0" name="Text 18"/>
          <p:cNvSpPr/>
          <p:nvPr/>
        </p:nvSpPr>
        <p:spPr>
          <a:xfrm>
            <a:off x="9811512" y="1828800"/>
            <a:ext cx="502920" cy="502920"/>
          </a:xfrm>
          <a:prstGeom prst="rect">
            <a:avLst/>
          </a:prstGeom>
          <a:solidFill>
            <a:srgbClr val="2EC4B6"/>
          </a:solidFill>
          <a:ln>
            <a:solidFill>
              <a:srgbClr val="FFFFFF">
                <a:alpha val="1000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5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9857232" y="2578608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Final story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9857232" y="2971800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AAB7C4"/>
                </a:solidFill>
              </a:rPr>
              <a:t>Report + presentation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188720" y="4983480"/>
            <a:ext cx="9784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F2C94C"/>
                </a:solidFill>
              </a:rPr>
              <a:t>Project infrastructure: Microsoft Teams + GitHub + SQL + Power BI</a:t>
            </a:r>
            <a:endParaRPr lang="en-US" sz="2300" dirty="0"/>
          </a:p>
        </p:txBody>
      </p:sp>
      <p:sp>
        <p:nvSpPr>
          <p:cNvPr id="24" name="Text 22"/>
          <p:cNvSpPr/>
          <p:nvPr/>
        </p:nvSpPr>
        <p:spPr>
          <a:xfrm>
            <a:off x="457200" y="6510528"/>
            <a:ext cx="6949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AB7C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Mobile Game In-App Purchase Behavior Analysis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11384280" y="6464808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B7C4"/>
                </a:solidFill>
              </a:rPr>
              <a:t>6</a:t>
            </a:r>
            <a:endParaRPr lang="en-US" sz="900" dirty="0"/>
          </a:p>
        </p:txBody>
      </p:sp>
    </p:spTree>
  </p:cSld>
  <p:clrMapOvr>
    <a:masterClrMapping/>
  </p:clrMapOvr>
  <p:transition spd="slow">
    <p:push dir="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814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81381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</a:rPr>
              <a:t>Team Structure &amp; Responsibilities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66928" y="804672"/>
            <a:ext cx="7955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8C8E8"/>
                </a:solidFill>
              </a:rPr>
              <a:t>Final role assignment created clear ownership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1325880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Daniel Ricardo Arias Royo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1719072"/>
            <a:ext cx="5029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F2C94C"/>
                </a:solidFill>
              </a:rPr>
              <a:t>Project Manager</a:t>
            </a:r>
            <a:endParaRPr lang="en-US" sz="1800" dirty="0"/>
          </a:p>
          <a:p>
            <a:pPr marL="0" indent="0">
              <a:buNone/>
            </a:pPr>
            <a:r>
              <a:rPr lang="en-US" sz="1800" b="1" dirty="0">
                <a:solidFill>
                  <a:srgbClr val="F2C94C"/>
                </a:solidFill>
              </a:rPr>
              <a:t>Documentation &amp; Presentation Lead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2286000"/>
            <a:ext cx="5029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AAB7C4"/>
                </a:solidFill>
              </a:rPr>
              <a:t>Coordination, deliverables, Teams/GitHub, dashboard reallocation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263640" y="1325880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Weican Ye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263640" y="1719072"/>
            <a:ext cx="5029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18C8E8"/>
                </a:solidFill>
              </a:rPr>
              <a:t>Data Engineer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263640" y="2286000"/>
            <a:ext cx="5029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AAB7C4"/>
                </a:solidFill>
              </a:rPr>
              <a:t>Data cleaning, transformation, grouping, analytical dataset generation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3383280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Arjun Meghanandbhai Mod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0080" y="3776472"/>
            <a:ext cx="5029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18C8E8"/>
                </a:solidFill>
              </a:rPr>
              <a:t>Data Analyst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40080" y="4343400"/>
            <a:ext cx="5029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AAB7C4"/>
                </a:solidFill>
              </a:rPr>
              <a:t>EDA, statistical analysis, pattern identification, result interpretation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263640" y="3383280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Nikhilesh Krishnamurthy Iyer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263640" y="3776472"/>
            <a:ext cx="5029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18C8E8"/>
                </a:solidFill>
              </a:rPr>
              <a:t>Visualization Specialist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263640" y="4343400"/>
            <a:ext cx="5029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AAB7C4"/>
                </a:solidFill>
              </a:rPr>
              <a:t>Dashboard and visual design responsibility initially assigned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097280" y="5715000"/>
            <a:ext cx="10012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7500" lnSpcReduction="20000"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</a:rPr>
              <a:t>Key management lesson: role ownership must be reviewed regularly so deliverable gaps can be corrected early.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457200" y="6510528"/>
            <a:ext cx="6949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AB7C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Mobile Game In-App Purchase Behavior Analysis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11384280" y="6464808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B7C4"/>
                </a:solidFill>
              </a:rPr>
              <a:t>7</a:t>
            </a:r>
            <a:endParaRPr lang="en-US" sz="900" dirty="0"/>
          </a:p>
        </p:txBody>
      </p:sp>
    </p:spTree>
  </p:cSld>
  <p:clrMapOvr>
    <a:masterClrMapping/>
  </p:clrMapOvr>
  <p:transition spd="slow">
    <p:push dir="u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814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81381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</a:rPr>
              <a:t>Data Preparation Completed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66928" y="804672"/>
            <a:ext cx="7955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8C8E8"/>
                </a:solidFill>
              </a:rPr>
              <a:t>The engineering phase established the analytical foundation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8C8E8"/>
                </a:solidFill>
              </a:rPr>
              <a:t>Generated tables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77240" y="1847088"/>
            <a:ext cx="2103120" cy="310896"/>
          </a:xfrm>
          <a:prstGeom prst="rect">
            <a:avLst/>
          </a:prstGeom>
          <a:solidFill>
            <a:srgbClr val="2F80ED">
              <a:alpha val="95000"/>
            </a:srgbClr>
          </a:solidFill>
          <a:ln>
            <a:solidFill>
              <a:srgbClr val="2F80ED">
                <a:alpha val="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player_cleaned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063240" y="1847088"/>
            <a:ext cx="2286000" cy="310896"/>
          </a:xfrm>
          <a:prstGeom prst="rect">
            <a:avLst/>
          </a:prstGeom>
          <a:solidFill>
            <a:srgbClr val="8A5CF6">
              <a:alpha val="95000"/>
            </a:srgbClr>
          </a:solidFill>
          <a:ln>
            <a:solidFill>
              <a:srgbClr val="8A5CF6">
                <a:alpha val="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purchase_cleaned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31520" y="27432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8C8E8"/>
                </a:solidFill>
              </a:rPr>
              <a:t>Supporting files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77240" y="3218688"/>
            <a:ext cx="2148840" cy="310896"/>
          </a:xfrm>
          <a:prstGeom prst="rect">
            <a:avLst/>
          </a:prstGeom>
          <a:solidFill>
            <a:srgbClr val="2F80ED">
              <a:alpha val="95000"/>
            </a:srgbClr>
          </a:solidFill>
          <a:ln>
            <a:solidFill>
              <a:srgbClr val="2F80ED">
                <a:alpha val="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raw_data.sql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246120" y="3218688"/>
            <a:ext cx="2148840" cy="310896"/>
          </a:xfrm>
          <a:prstGeom prst="rect">
            <a:avLst/>
          </a:prstGeom>
          <a:solidFill>
            <a:srgbClr val="2F80ED">
              <a:alpha val="95000"/>
            </a:srgbClr>
          </a:solidFill>
          <a:ln>
            <a:solidFill>
              <a:srgbClr val="2F80ED">
                <a:alpha val="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seed.sql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715000" y="3218688"/>
            <a:ext cx="2148840" cy="310896"/>
          </a:xfrm>
          <a:prstGeom prst="rect">
            <a:avLst/>
          </a:prstGeom>
          <a:solidFill>
            <a:srgbClr val="2EC4B6">
              <a:alpha val="95000"/>
            </a:srgbClr>
          </a:solidFill>
          <a:ln>
            <a:solidFill>
              <a:srgbClr val="2EC4B6">
                <a:alpha val="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SQL generation scripts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31520" y="429768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8C8E8"/>
                </a:solidFill>
              </a:rPr>
              <a:t>Outcome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77240" y="4736592"/>
            <a:ext cx="6126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20000"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Cleaned and standardized datasets were shared for analysis, visualization, and reporting.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8412480" y="1508760"/>
            <a:ext cx="914400" cy="1143000"/>
          </a:xfrm>
          <a:prstGeom prst="can">
            <a:avLst/>
          </a:prstGeom>
          <a:solidFill>
            <a:srgbClr val="2F80ED"/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4" name="Shape 12"/>
          <p:cNvSpPr/>
          <p:nvPr/>
        </p:nvSpPr>
        <p:spPr>
          <a:xfrm>
            <a:off x="9555480" y="2240280"/>
            <a:ext cx="914400" cy="1143000"/>
          </a:xfrm>
          <a:prstGeom prst="can">
            <a:avLst/>
          </a:prstGeom>
          <a:solidFill>
            <a:srgbClr val="8A5CF6"/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5" name="Shape 13"/>
          <p:cNvSpPr/>
          <p:nvPr/>
        </p:nvSpPr>
        <p:spPr>
          <a:xfrm>
            <a:off x="8229600" y="3154680"/>
            <a:ext cx="914400" cy="1143000"/>
          </a:xfrm>
          <a:prstGeom prst="can">
            <a:avLst/>
          </a:prstGeom>
          <a:solidFill>
            <a:srgbClr val="2EC4B6"/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6" name="Text 14"/>
          <p:cNvSpPr/>
          <p:nvPr/>
        </p:nvSpPr>
        <p:spPr>
          <a:xfrm>
            <a:off x="8001000" y="4709160"/>
            <a:ext cx="2926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2C94C"/>
                </a:solidFill>
              </a:rPr>
              <a:t>SQL + Clean Tables</a:t>
            </a:r>
            <a:endParaRPr lang="en-US" sz="1700" dirty="0"/>
          </a:p>
          <a:p>
            <a:pPr marL="0" indent="0" algn="ctr">
              <a:buNone/>
            </a:pPr>
            <a:r>
              <a:rPr lang="en-US" sz="1700" b="1" dirty="0">
                <a:solidFill>
                  <a:srgbClr val="F2C94C"/>
                </a:solidFill>
              </a:rPr>
              <a:t>ready for analytics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457200" y="6510528"/>
            <a:ext cx="6949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AB7C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Mobile Game In-App Purchase Behavior Analysis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11384280" y="6464808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B7C4"/>
                </a:solidFill>
              </a:rPr>
              <a:t>8</a:t>
            </a:r>
            <a:endParaRPr lang="en-US" sz="900" dirty="0"/>
          </a:p>
        </p:txBody>
      </p:sp>
    </p:spTree>
  </p:cSld>
  <p:clrMapOvr>
    <a:masterClrMapping/>
  </p:clrMapOvr>
  <p:transition spd="slow">
    <p:push dir="u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814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81381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</a:rPr>
              <a:t>Planned Analysis Scope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66928" y="804672"/>
            <a:ext cx="7955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8C8E8"/>
                </a:solidFill>
              </a:rPr>
              <a:t>EDA and statistical analysis focus on purchasing patterns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1481328"/>
            <a:ext cx="2395728" cy="411480"/>
          </a:xfrm>
          <a:prstGeom prst="rect">
            <a:avLst/>
          </a:prstGeom>
          <a:solidFill>
            <a:srgbClr val="2F80ED"/>
          </a:solidFill>
          <a:ln>
            <a:solidFill>
              <a:srgbClr val="FFFFFF">
                <a:alpha val="5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Demographics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13232" y="2139696"/>
            <a:ext cx="221284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AAB7C4"/>
                </a:solidFill>
              </a:rPr>
              <a:t>Age groups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AAB7C4"/>
                </a:solidFill>
              </a:rPr>
              <a:t>Gender distribution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AAB7C4"/>
                </a:solidFill>
              </a:rPr>
              <a:t>Country-level patterns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29000" y="1481328"/>
            <a:ext cx="2395728" cy="411480"/>
          </a:xfrm>
          <a:prstGeom prst="rect">
            <a:avLst/>
          </a:prstGeom>
          <a:solidFill>
            <a:srgbClr val="8A5CF6"/>
          </a:solidFill>
          <a:ln>
            <a:solidFill>
              <a:srgbClr val="FFFFFF">
                <a:alpha val="5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Engagement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502152" y="2139696"/>
            <a:ext cx="221284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AAB7C4"/>
                </a:solidFill>
              </a:rPr>
              <a:t>Session behavior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AAB7C4"/>
                </a:solidFill>
              </a:rPr>
              <a:t>User activity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AAB7C4"/>
                </a:solidFill>
              </a:rPr>
              <a:t>Genre preferences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217920" y="1481328"/>
            <a:ext cx="2395728" cy="411480"/>
          </a:xfrm>
          <a:prstGeom prst="rect">
            <a:avLst/>
          </a:prstGeom>
          <a:solidFill>
            <a:srgbClr val="2EC4B6"/>
          </a:solidFill>
          <a:ln>
            <a:solidFill>
              <a:srgbClr val="FFFFFF">
                <a:alpha val="5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Revenue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291072" y="2139696"/>
            <a:ext cx="221284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AAB7C4"/>
                </a:solidFill>
              </a:rPr>
              <a:t>Spending segments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AAB7C4"/>
                </a:solidFill>
              </a:rPr>
              <a:t>Purchase amount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AAB7C4"/>
                </a:solidFill>
              </a:rPr>
              <a:t>Payment methods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006840" y="1481328"/>
            <a:ext cx="2395728" cy="411480"/>
          </a:xfrm>
          <a:prstGeom prst="rect">
            <a:avLst/>
          </a:prstGeom>
          <a:solidFill>
            <a:srgbClr val="F2C94C"/>
          </a:solidFill>
          <a:ln>
            <a:solidFill>
              <a:srgbClr val="FFFFFF">
                <a:alpha val="5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Business insight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9079992" y="2139696"/>
            <a:ext cx="221284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AAB7C4"/>
                </a:solidFill>
              </a:rPr>
              <a:t>Who spends?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AAB7C4"/>
                </a:solidFill>
              </a:rPr>
              <a:t>Where is revenue?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AAB7C4"/>
                </a:solidFill>
              </a:rPr>
              <a:t>Which behaviors matter?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914400" y="438912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6B6B"/>
                </a:solidFill>
              </a:rPr>
              <a:t>Important boundary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914400" y="4773168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</a:rPr>
              <a:t>The logs record the analysis work as in progress, so this presentation avoids claiming final statistical findings that are not yet documented.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457200" y="6510528"/>
            <a:ext cx="6949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AB7C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Mobile Game In-App Purchase Behavior Analysis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11384280" y="6464808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B7C4"/>
                </a:solidFill>
              </a:rPr>
              <a:t>9</a:t>
            </a:r>
            <a:endParaRPr lang="en-US" sz="900" dirty="0"/>
          </a:p>
        </p:txBody>
      </p:sp>
    </p:spTree>
  </p:cSld>
  <p:clrMapOvr>
    <a:masterClrMapping/>
  </p:clrMapOvr>
  <p:transition spd="slow">
    <p:push dir="u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814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81381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</a:rPr>
              <a:t>Visualization Development Adjustment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66928" y="804672"/>
            <a:ext cx="7955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8C8E8"/>
                </a:solidFill>
              </a:rPr>
              <a:t>A review found that executive-ready visuals were still missing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22960" y="13258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8C8E8"/>
                </a:solidFill>
              </a:rPr>
              <a:t>Initial plan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22960" y="1719072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Tableau-ready Excel workbook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22960" y="2148840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AAB7C4"/>
                </a:solidFill>
              </a:rPr>
              <a:t>Useful summary sheets, but not a complete interactive visualization solution.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92240" y="13258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8C8E8"/>
                </a:solidFill>
              </a:rPr>
              <a:t>Final decision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92240" y="1719072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2C94C"/>
                </a:solidFill>
              </a:rPr>
              <a:t>Power BI dashboard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492240" y="2148840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AAB7C4"/>
                </a:solidFill>
              </a:rPr>
              <a:t>Daniel assumed dashboard responsibility to align visuals, analysis, documentation, and presentation.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806440" y="1874520"/>
            <a:ext cx="502920" cy="502920"/>
          </a:xfrm>
          <a:prstGeom prst="chevron">
            <a:avLst/>
          </a:prstGeom>
          <a:solidFill>
            <a:srgbClr val="8A5CF6"/>
          </a:solidFill>
          <a:ln w="12700">
            <a:solidFill>
              <a:srgbClr val="8A5C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1" name="Text 9"/>
          <p:cNvSpPr/>
          <p:nvPr/>
        </p:nvSpPr>
        <p:spPr>
          <a:xfrm>
            <a:off x="1097280" y="4343400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</a:rPr>
              <a:t>• Interactive dashboards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886200" y="4343400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</a:rPr>
              <a:t>• Analytical visualizations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675120" y="4343400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</a:rPr>
              <a:t>• Business insight visuals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9464040" y="4343400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</a:rPr>
              <a:t>• Executive reporting views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57200" y="6510528"/>
            <a:ext cx="6949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AB7C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Mobile Game In-App Purchase Behavior Analysis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11384280" y="6464808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B7C4"/>
                </a:solidFill>
              </a:rPr>
              <a:t>10</a:t>
            </a:r>
            <a:endParaRPr lang="en-US" sz="900" dirty="0"/>
          </a:p>
        </p:txBody>
      </p:sp>
    </p:spTree>
  </p:cSld>
  <p:clrMapOvr>
    <a:masterClrMapping/>
  </p:clrMapOvr>
  <p:transition spd="slow">
    <p:push dir="u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814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81381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</a:rPr>
              <a:t>Power BI Dashboard Scope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66928" y="804672"/>
            <a:ext cx="7955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8C8E8"/>
                </a:solidFill>
              </a:rPr>
              <a:t>Planned executive view for purchase behavior and revenue insight**</a:t>
            </a:r>
            <a:endParaRPr lang="en-US" sz="1100" dirty="0"/>
          </a:p>
        </p:txBody>
      </p:sp>
      <p:pic>
        <p:nvPicPr>
          <p:cNvPr id="4" name="Image 0" descr="/mnt/data/a_high_detail_wide_computer_dashboard_ui_scene_a_batch_2.png"/>
          <p:cNvPicPr>
            <a:picLocks noChangeAspect="1"/>
          </p:cNvPicPr>
          <p:nvPr/>
        </p:nvPicPr>
        <p:blipFill>
          <a:blip r:embed="rId3"/>
          <a:srcRect l="5680" r="5680"/>
          <a:stretch/>
        </p:blipFill>
        <p:spPr>
          <a:xfrm>
            <a:off x="658368" y="1207008"/>
            <a:ext cx="5760720" cy="36576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903720" y="1261872"/>
            <a:ext cx="429768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</a:rPr>
              <a:t>Player demographic analysis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6537960" y="128016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C4B6"/>
                </a:solidFill>
              </a:rPr>
              <a:t>✓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6903720" y="1764792"/>
            <a:ext cx="429768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</a:rPr>
              <a:t>Purchase behavior analysis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6537960" y="178308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C4B6"/>
                </a:solidFill>
              </a:rPr>
              <a:t>✓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903720" y="2267712"/>
            <a:ext cx="429768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</a:rPr>
              <a:t>Revenue segmentation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6537960" y="228600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C4B6"/>
                </a:solidFill>
              </a:rPr>
              <a:t>✓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6903720" y="2770632"/>
            <a:ext cx="429768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</a:rPr>
              <a:t>Spending by age group and genre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6537960" y="278892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C4B6"/>
                </a:solidFill>
              </a:rPr>
              <a:t>✓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6903720" y="3273552"/>
            <a:ext cx="429768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</a:rPr>
              <a:t>Country-level revenue analysis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6537960" y="329184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C4B6"/>
                </a:solidFill>
              </a:rPr>
              <a:t>✓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6903720" y="3776472"/>
            <a:ext cx="429768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</a:rPr>
              <a:t>Payment method analysis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6537960" y="379476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C4B6"/>
                </a:solidFill>
              </a:rPr>
              <a:t>✓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6903720" y="4279392"/>
            <a:ext cx="429768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</a:rPr>
              <a:t>Engagement versus spending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6537960" y="429768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C4B6"/>
                </a:solidFill>
              </a:rPr>
              <a:t>✓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914400" y="5486400"/>
            <a:ext cx="10424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2C94C"/>
                </a:solidFill>
              </a:rPr>
              <a:t>Design goal: allow users to filter, drill down, and quickly identify high-value purchase patterns.</a:t>
            </a:r>
            <a:endParaRPr lang="en-US" sz="2000" dirty="0"/>
          </a:p>
        </p:txBody>
      </p:sp>
      <p:sp>
        <p:nvSpPr>
          <p:cNvPr id="20" name="Text 17"/>
          <p:cNvSpPr/>
          <p:nvPr/>
        </p:nvSpPr>
        <p:spPr>
          <a:xfrm>
            <a:off x="457200" y="6510528"/>
            <a:ext cx="6949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AB7C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Mobile Game In-App Purchase Behavior Analysis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11384280" y="6464808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B7C4"/>
                </a:solidFill>
              </a:rPr>
              <a:t>11</a:t>
            </a:r>
            <a:endParaRPr lang="en-US" sz="900" dirty="0"/>
          </a:p>
        </p:txBody>
      </p:sp>
      <p:sp>
        <p:nvSpPr>
          <p:cNvPr id="22" name="Text 16">
            <a:extLst>
              <a:ext uri="{FF2B5EF4-FFF2-40B4-BE49-F238E27FC236}">
                <a16:creationId xmlns:a16="http://schemas.microsoft.com/office/drawing/2014/main" id="{B9758801-D456-302A-9CCA-9A2D9AF02247}"/>
              </a:ext>
            </a:extLst>
          </p:cNvPr>
          <p:cNvSpPr/>
          <p:nvPr/>
        </p:nvSpPr>
        <p:spPr>
          <a:xfrm>
            <a:off x="883920" y="5971032"/>
            <a:ext cx="10424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chemeClr val="bg1"/>
                </a:solidFill>
              </a:rPr>
              <a:t>**Note: Image was AI-generated for reference, official display and visuals will be shared later in the project.</a:t>
            </a:r>
            <a:endParaRPr lang="en-US" sz="120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 spd="slow">
    <p:push dir="u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814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81381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</a:rPr>
              <a:t>Current Project Status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66928" y="804672"/>
            <a:ext cx="7955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8C8E8"/>
                </a:solidFill>
              </a:rPr>
              <a:t>Completed, in progress, and remaining items based on the logs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85800" y="1298448"/>
            <a:ext cx="3154680" cy="411480"/>
          </a:xfrm>
          <a:prstGeom prst="rect">
            <a:avLst/>
          </a:prstGeom>
          <a:solidFill>
            <a:srgbClr val="2EC4B6">
              <a:alpha val="90000"/>
            </a:srgbClr>
          </a:solidFill>
          <a:ln>
            <a:solidFill>
              <a:srgbClr val="2EC4B6">
                <a:alpha val="0"/>
              </a:srgbClr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</a:rPr>
              <a:t>Completed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832104" y="1901952"/>
            <a:ext cx="2880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</a:rPr>
              <a:t>• Team formation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832104" y="2286000"/>
            <a:ext cx="2880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</a:rPr>
              <a:t>• Topic selection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832104" y="2670048"/>
            <a:ext cx="2880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</a:rPr>
              <a:t>• Problem statement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832104" y="3054096"/>
            <a:ext cx="2880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</a:rPr>
              <a:t>• GitHub + Teams setup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832104" y="3438144"/>
            <a:ext cx="2880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</a:rPr>
              <a:t>• Workflow diagram + Gantt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832104" y="3822192"/>
            <a:ext cx="2880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</a:rPr>
              <a:t>• Dataset selection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832104" y="4206240"/>
            <a:ext cx="2880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</a:rPr>
              <a:t>• Role assignment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832104" y="4590288"/>
            <a:ext cx="2880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</a:rPr>
              <a:t>• Data cleaning + SQL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4572000" y="1298448"/>
            <a:ext cx="3154680" cy="411480"/>
          </a:xfrm>
          <a:prstGeom prst="rect">
            <a:avLst/>
          </a:prstGeom>
          <a:solidFill>
            <a:srgbClr val="F2C94C">
              <a:alpha val="90000"/>
            </a:srgbClr>
          </a:solidFill>
          <a:ln>
            <a:solidFill>
              <a:srgbClr val="F2C94C">
                <a:alpha val="0"/>
              </a:srgbClr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</a:rPr>
              <a:t>In Progress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4718304" y="1901952"/>
            <a:ext cx="2880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</a:rPr>
              <a:t>• EDA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718304" y="2286000"/>
            <a:ext cx="2880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</a:rPr>
              <a:t>• Statistical analysis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718304" y="2670048"/>
            <a:ext cx="2880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</a:rPr>
              <a:t>• Power BI dashboard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4718304" y="3054096"/>
            <a:ext cx="2880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</a:rPr>
              <a:t>• Presentation development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718304" y="3438144"/>
            <a:ext cx="2880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</a:rPr>
              <a:t>• Final report preparation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8458200" y="1298448"/>
            <a:ext cx="3154680" cy="411480"/>
          </a:xfrm>
          <a:prstGeom prst="rect">
            <a:avLst/>
          </a:prstGeom>
          <a:solidFill>
            <a:srgbClr val="FF6B6B">
              <a:alpha val="90000"/>
            </a:srgbClr>
          </a:solidFill>
          <a:ln>
            <a:solidFill>
              <a:srgbClr val="FF6B6B">
                <a:alpha val="0"/>
              </a:srgbClr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</a:rPr>
              <a:t>Remaining</a:t>
            </a:r>
            <a:endParaRPr lang="en-US" sz="1900" dirty="0"/>
          </a:p>
        </p:txBody>
      </p:sp>
      <p:sp>
        <p:nvSpPr>
          <p:cNvPr id="20" name="Text 18"/>
          <p:cNvSpPr/>
          <p:nvPr/>
        </p:nvSpPr>
        <p:spPr>
          <a:xfrm>
            <a:off x="8604504" y="1901952"/>
            <a:ext cx="2880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</a:rPr>
              <a:t>• Final analytical findings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604504" y="2286000"/>
            <a:ext cx="2880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</a:rPr>
              <a:t>• Dashboard completion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8604504" y="2670048"/>
            <a:ext cx="2880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</a:rPr>
              <a:t>• Insight generation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8604504" y="3054096"/>
            <a:ext cx="2880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</a:rPr>
              <a:t>• Report finalization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8604504" y="3438144"/>
            <a:ext cx="2880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</a:rPr>
              <a:t>• Presentation rehearsal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8604504" y="3822192"/>
            <a:ext cx="2880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</a:rPr>
              <a:t>• Final submission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914400" y="5989320"/>
            <a:ext cx="10378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7500" lnSpcReduction="20000"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8C8E8"/>
                </a:solidFill>
              </a:rPr>
              <a:t>Project progress is structurally strong, with the remaining work concentrated on final analysis, visualization completion, and reporting.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457200" y="6510528"/>
            <a:ext cx="6949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AB7C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Mobile Game In-App Purchase Behavior Analysis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11384280" y="6464808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B7C4"/>
                </a:solidFill>
              </a:rPr>
              <a:t>12</a:t>
            </a:r>
            <a:endParaRPr lang="en-US" sz="900" dirty="0"/>
          </a:p>
        </p:txBody>
      </p:sp>
    </p:spTree>
  </p:cSld>
  <p:clrMapOvr>
    <a:masterClrMapping/>
  </p:clrMapOvr>
  <p:transition spd="slow">
    <p:push dir="u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814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81381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</a:rPr>
              <a:t>Lessons Learned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66928" y="804672"/>
            <a:ext cx="7955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8C8E8"/>
                </a:solidFill>
              </a:rPr>
              <a:t>Project execution insights captured throughout the logs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22960" y="1234440"/>
            <a:ext cx="457200" cy="457200"/>
          </a:xfrm>
          <a:prstGeom prst="rect">
            <a:avLst/>
          </a:prstGeom>
          <a:solidFill>
            <a:srgbClr val="2F80ED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1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463040" y="1252728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</a:rPr>
              <a:t>Dataset quality beats availability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463040" y="1627632"/>
            <a:ext cx="9326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AAB7C4"/>
                </a:solidFill>
              </a:rPr>
              <a:t>A larger dataset is only useful when it is clean, relevant, and analytically meaningful.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822960" y="2377440"/>
            <a:ext cx="457200" cy="457200"/>
          </a:xfrm>
          <a:prstGeom prst="rect">
            <a:avLst/>
          </a:prstGeom>
          <a:solidFill>
            <a:srgbClr val="8A5CF6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2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463040" y="2395728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</a:rPr>
              <a:t>Ownership must be explicit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463040" y="2770632"/>
            <a:ext cx="9326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AAB7C4"/>
                </a:solidFill>
              </a:rPr>
              <a:t>Clear responsibility prevents gaps and makes reallocation easier when needed.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822960" y="3520440"/>
            <a:ext cx="457200" cy="457200"/>
          </a:xfrm>
          <a:prstGeom prst="rect">
            <a:avLst/>
          </a:prstGeom>
          <a:solidFill>
            <a:srgbClr val="2F80ED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3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463040" y="3538728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</a:rPr>
              <a:t>Documentation is continuous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1463040" y="3913632"/>
            <a:ext cx="9326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AAB7C4"/>
                </a:solidFill>
              </a:rPr>
              <a:t>Logs, GitHub, and Teams alignment help keep work auditable and consistent.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822960" y="4663440"/>
            <a:ext cx="457200" cy="457200"/>
          </a:xfrm>
          <a:prstGeom prst="rect">
            <a:avLst/>
          </a:prstGeom>
          <a:solidFill>
            <a:srgbClr val="8A5CF6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4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463040" y="4681728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</a:rPr>
              <a:t>Review checkpoints matter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463040" y="5056632"/>
            <a:ext cx="9326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AAB7C4"/>
                </a:solidFill>
              </a:rPr>
              <a:t>Progress reviews exposed the visualization gap early enough to correct it.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457200" y="6510528"/>
            <a:ext cx="6949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AB7C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Mobile Game In-App Purchase Behavior Analysis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11384280" y="6464808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B7C4"/>
                </a:solidFill>
              </a:rPr>
              <a:t>13</a:t>
            </a:r>
            <a:endParaRPr lang="en-US" sz="900" dirty="0"/>
          </a:p>
        </p:txBody>
      </p:sp>
    </p:spTree>
  </p:cSld>
  <p:clrMapOvr>
    <a:masterClrMapping/>
  </p:clrMapOvr>
  <p:transition spd="slow">
    <p:push dir="u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814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81381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</a:rPr>
              <a:t>Final Delivery Plan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66928" y="804672"/>
            <a:ext cx="7955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8C8E8"/>
                </a:solidFill>
              </a:rPr>
              <a:t>What will complete the project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960120" y="1508760"/>
            <a:ext cx="566928" cy="566928"/>
          </a:xfrm>
          <a:prstGeom prst="rect">
            <a:avLst/>
          </a:prstGeom>
          <a:solidFill>
            <a:srgbClr val="2F80ED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1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40080" y="2331720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Finish analysis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11480" y="2743200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AAB7C4"/>
                </a:solidFill>
              </a:rPr>
              <a:t>Complete EDA, statistics, and interpretation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3200400" y="1508760"/>
            <a:ext cx="566928" cy="566928"/>
          </a:xfrm>
          <a:prstGeom prst="rect">
            <a:avLst/>
          </a:prstGeom>
          <a:solidFill>
            <a:srgbClr val="8A5CF6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2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2880360" y="2331720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10000"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Build dashboard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2651760" y="2743200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AAB7C4"/>
                </a:solidFill>
              </a:rPr>
              <a:t>Complete Power BI visuals and interactive filters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440680" y="1508760"/>
            <a:ext cx="566928" cy="566928"/>
          </a:xfrm>
          <a:prstGeom prst="rect">
            <a:avLst/>
          </a:prstGeom>
          <a:solidFill>
            <a:srgbClr val="2EC4B6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3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5120640" y="2331720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7500" lnSpcReduction="20000"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Generate insights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892040" y="2743200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AAB7C4"/>
                </a:solidFill>
              </a:rPr>
              <a:t>Translate patterns into business recommendations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7680960" y="1508760"/>
            <a:ext cx="566928" cy="566928"/>
          </a:xfrm>
          <a:prstGeom prst="rect">
            <a:avLst/>
          </a:prstGeom>
          <a:solidFill>
            <a:srgbClr val="F2C94C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4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7360920" y="2331720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Finalize report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7132320" y="2743200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AAB7C4"/>
                </a:solidFill>
              </a:rPr>
              <a:t>Align report, dashboard, and presentation narrative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9921240" y="1508760"/>
            <a:ext cx="566928" cy="566928"/>
          </a:xfrm>
          <a:prstGeom prst="rect">
            <a:avLst/>
          </a:prstGeom>
          <a:solidFill>
            <a:srgbClr val="FF6B6B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5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9601200" y="2331720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7500" lnSpcReduction="20000"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Rehearse &amp; submit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9372600" y="2743200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AAB7C4"/>
                </a:solidFill>
              </a:rPr>
              <a:t>Prepare final delivery and submission package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069080" y="4709160"/>
            <a:ext cx="4023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</a:rPr>
              <a:t>Q&amp;A</a:t>
            </a:r>
            <a:endParaRPr lang="en-US" sz="4400" dirty="0"/>
          </a:p>
        </p:txBody>
      </p:sp>
      <p:sp>
        <p:nvSpPr>
          <p:cNvPr id="20" name="Text 18"/>
          <p:cNvSpPr/>
          <p:nvPr/>
        </p:nvSpPr>
        <p:spPr>
          <a:xfrm>
            <a:off x="4846320" y="548640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18C8E8"/>
                </a:solidFill>
              </a:rPr>
              <a:t>Thank you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457200" y="6510528"/>
            <a:ext cx="6949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AB7C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Mobile Game In-App Purchase Behavior Analysis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11384280" y="6464808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B7C4"/>
                </a:solidFill>
              </a:rPr>
              <a:t>14</a:t>
            </a:r>
            <a:endParaRPr lang="en-US" sz="900" dirty="0"/>
          </a:p>
        </p:txBody>
      </p:sp>
    </p:spTree>
  </p:cSld>
  <p:clrMapOvr>
    <a:masterClrMapping/>
  </p:clrMapOvr>
  <p:transition spd="slow">
    <p:push dir="u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1476</Words>
  <Application>Microsoft Office PowerPoint</Application>
  <PresentationFormat>Widescreen</PresentationFormat>
  <Paragraphs>303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Aptos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Data Analytics Course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Mobile Game In-App Purchase Behavior Analysis</dc:title>
  <dc:subject>Mobile Game In-App Purchase Behavior Analysis</dc:subject>
  <dc:creator>Weican Ye</dc:creator>
  <cp:lastModifiedBy>Daniel Ricardo Arias Royo</cp:lastModifiedBy>
  <cp:revision>3</cp:revision>
  <dcterms:created xsi:type="dcterms:W3CDTF">2026-05-30T09:32:11Z</dcterms:created>
  <dcterms:modified xsi:type="dcterms:W3CDTF">2026-05-30T11:09:30Z</dcterms:modified>
</cp:coreProperties>
</file>