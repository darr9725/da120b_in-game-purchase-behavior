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saying the final presentation now uses the same dark gaming analytics visual style as the uploaded template, but the content is updated to include EDA and Power BI insights.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structure and emphasize that the final version focuses on insights and conclusions based on the EDA report and PBI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project connects demographics, engagement, and payment data to business recommendations for monetization and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connect data quality and descriptive statistics to the need for segmentation.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group member request: tell presenters to provide insights and conclusions based on EDA and PBI visuals.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only describe the dashboard layout. For each visual, state the insight, identify evidence from the dashboard, and explain the business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PBI executive page is the high-level business story. Highlight conversion, region, and platform as the main decision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only describe the dashboard layout. For each visual, state the insight, identify evidence from the dashboard, and explain the business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be presented as a business conclusion. Segmentation changes the marketing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only describe the dashboard layout. For each visual, state the insight, identify evidence from the dashboard, and explain the business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EDA slides. Emphasize that spending behavior requires monetization-specific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 team to present payment and genre charts as decision tools: reduce payment friction and personalize by preference.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each recommendation links back to a specific EDA or PBI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overall business message: do not present only the charts; present the insight, evidence, and decision that follows from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7406640" y="0"/>
            <a:ext cx="4800600" cy="6858000"/>
          </a:xfrm>
          <a:prstGeom prst="rect">
            <a:avLst/>
          </a:prstGeom>
          <a:solidFill>
            <a:srgbClr val="0B1F37"/>
          </a:solidFill>
          <a:ln w="12700">
            <a:solidFill>
              <a:srgbClr val="0B1F37">
                <a:alpha val="0"/>
              </a:srgbClr>
            </a:solidFill>
            <a:prstDash val="solid"/>
          </a:ln>
        </p:spPr>
        <p:txBody>
          <a:bodyPr lIns="27432" rIns="27432" tIns="18288" bIns="18288" wrap="square" anchor="t">
            <a:noAutofit/>
          </a:bodyPr>
          <a:p>
            <a:pPr>
              <a:lnSpc>
                <a:spcPct val="100000"/>
              </a:lnSpc>
              <a:spcBef>
                <a:spcPts val="0"/>
              </a:spcBef>
              <a:spcAft>
                <a:spcPts val="0"/>
              </a:spcAft>
              <a:defRPr sz="1350"/>
            </a:pPr>
          </a:p>
        </p:txBody>
      </p:sp>
      <p:sp>
        <p:nvSpPr>
          <p:cNvPr id="4" name="Shape 2"/>
          <p:cNvSpPr/>
          <p:nvPr/>
        </p:nvSpPr>
        <p:spPr>
          <a:xfrm>
            <a:off x="7635240" y="594360"/>
            <a:ext cx="384048" cy="73152"/>
          </a:xfrm>
          <a:prstGeom prst="rect">
            <a:avLst/>
          </a:prstGeom>
          <a:solidFill>
            <a:srgbClr val="2F80ED">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5" name="Shape 3"/>
          <p:cNvSpPr/>
          <p:nvPr/>
        </p:nvSpPr>
        <p:spPr>
          <a:xfrm>
            <a:off x="8293608" y="594360"/>
            <a:ext cx="384048" cy="128016"/>
          </a:xfrm>
          <a:prstGeom prst="rect">
            <a:avLst/>
          </a:prstGeom>
          <a:solidFill>
            <a:srgbClr val="8E5CF3">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6" name="Shape 4"/>
          <p:cNvSpPr/>
          <p:nvPr/>
        </p:nvSpPr>
        <p:spPr>
          <a:xfrm>
            <a:off x="8951976" y="594360"/>
            <a:ext cx="384048" cy="182880"/>
          </a:xfrm>
          <a:prstGeom prst="rect">
            <a:avLst/>
          </a:prstGeom>
          <a:solidFill>
            <a:srgbClr val="2ECAC6">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7" name="Shape 5"/>
          <p:cNvSpPr/>
          <p:nvPr/>
        </p:nvSpPr>
        <p:spPr>
          <a:xfrm>
            <a:off x="9610344" y="594360"/>
            <a:ext cx="384048" cy="237744"/>
          </a:xfrm>
          <a:prstGeom prst="rect">
            <a:avLst/>
          </a:prstGeom>
          <a:solidFill>
            <a:srgbClr val="2F80ED">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8" name="Shape 6"/>
          <p:cNvSpPr/>
          <p:nvPr/>
        </p:nvSpPr>
        <p:spPr>
          <a:xfrm>
            <a:off x="10268712" y="594360"/>
            <a:ext cx="384048" cy="73152"/>
          </a:xfrm>
          <a:prstGeom prst="rect">
            <a:avLst/>
          </a:prstGeom>
          <a:solidFill>
            <a:srgbClr val="8E5CF3">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9" name="Shape 7"/>
          <p:cNvSpPr/>
          <p:nvPr/>
        </p:nvSpPr>
        <p:spPr>
          <a:xfrm>
            <a:off x="10927080" y="594360"/>
            <a:ext cx="384048" cy="128016"/>
          </a:xfrm>
          <a:prstGeom prst="rect">
            <a:avLst/>
          </a:prstGeom>
          <a:solidFill>
            <a:srgbClr val="2ECAC6">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0" name="Shape 8"/>
          <p:cNvSpPr/>
          <p:nvPr/>
        </p:nvSpPr>
        <p:spPr>
          <a:xfrm>
            <a:off x="7635240" y="1071288"/>
            <a:ext cx="395569" cy="197510"/>
          </a:xfrm>
          <a:prstGeom prst="rect">
            <a:avLst/>
          </a:prstGeom>
          <a:solidFill>
            <a:srgbClr val="2F80ED">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1" name="Shape 9"/>
          <p:cNvSpPr/>
          <p:nvPr/>
        </p:nvSpPr>
        <p:spPr>
          <a:xfrm>
            <a:off x="8293608" y="1071288"/>
            <a:ext cx="395569" cy="256763"/>
          </a:xfrm>
          <a:prstGeom prst="rect">
            <a:avLst/>
          </a:prstGeom>
          <a:solidFill>
            <a:srgbClr val="8E5CF3">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2" name="Shape 10"/>
          <p:cNvSpPr/>
          <p:nvPr/>
        </p:nvSpPr>
        <p:spPr>
          <a:xfrm>
            <a:off x="8951976" y="1071288"/>
            <a:ext cx="395569" cy="79004"/>
          </a:xfrm>
          <a:prstGeom prst="rect">
            <a:avLst/>
          </a:prstGeom>
          <a:solidFill>
            <a:srgbClr val="2ECAC6">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3" name="Shape 11"/>
          <p:cNvSpPr/>
          <p:nvPr/>
        </p:nvSpPr>
        <p:spPr>
          <a:xfrm>
            <a:off x="9610344" y="1071288"/>
            <a:ext cx="395569" cy="138257"/>
          </a:xfrm>
          <a:prstGeom prst="rect">
            <a:avLst/>
          </a:prstGeom>
          <a:solidFill>
            <a:srgbClr val="2F80ED">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4" name="Shape 12"/>
          <p:cNvSpPr/>
          <p:nvPr/>
        </p:nvSpPr>
        <p:spPr>
          <a:xfrm>
            <a:off x="10268712" y="1071288"/>
            <a:ext cx="384048" cy="197510"/>
          </a:xfrm>
          <a:prstGeom prst="rect">
            <a:avLst/>
          </a:prstGeom>
          <a:solidFill>
            <a:srgbClr val="8E5CF3">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5" name="Shape 13"/>
          <p:cNvSpPr/>
          <p:nvPr/>
        </p:nvSpPr>
        <p:spPr>
          <a:xfrm>
            <a:off x="10927080" y="1071288"/>
            <a:ext cx="384048" cy="256763"/>
          </a:xfrm>
          <a:prstGeom prst="rect">
            <a:avLst/>
          </a:prstGeom>
          <a:solidFill>
            <a:srgbClr val="2ECAC6">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6" name="Shape 14"/>
          <p:cNvSpPr/>
          <p:nvPr/>
        </p:nvSpPr>
        <p:spPr>
          <a:xfrm>
            <a:off x="7635240" y="1638216"/>
            <a:ext cx="395569" cy="79004"/>
          </a:xfrm>
          <a:prstGeom prst="rect">
            <a:avLst/>
          </a:prstGeom>
          <a:solidFill>
            <a:srgbClr val="2F80ED">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7" name="Shape 15"/>
          <p:cNvSpPr/>
          <p:nvPr/>
        </p:nvSpPr>
        <p:spPr>
          <a:xfrm>
            <a:off x="8293608" y="1638216"/>
            <a:ext cx="395569" cy="138257"/>
          </a:xfrm>
          <a:prstGeom prst="rect">
            <a:avLst/>
          </a:prstGeom>
          <a:solidFill>
            <a:srgbClr val="8E5CF3">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8" name="Shape 16"/>
          <p:cNvSpPr/>
          <p:nvPr/>
        </p:nvSpPr>
        <p:spPr>
          <a:xfrm>
            <a:off x="8951976" y="1638216"/>
            <a:ext cx="395569" cy="197510"/>
          </a:xfrm>
          <a:prstGeom prst="rect">
            <a:avLst/>
          </a:prstGeom>
          <a:solidFill>
            <a:srgbClr val="2ECAC6">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19" name="Shape 17"/>
          <p:cNvSpPr/>
          <p:nvPr/>
        </p:nvSpPr>
        <p:spPr>
          <a:xfrm>
            <a:off x="9610344" y="1638216"/>
            <a:ext cx="395569" cy="256763"/>
          </a:xfrm>
          <a:prstGeom prst="rect">
            <a:avLst/>
          </a:prstGeom>
          <a:solidFill>
            <a:srgbClr val="2F80ED">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0" name="Shape 18"/>
          <p:cNvSpPr/>
          <p:nvPr/>
        </p:nvSpPr>
        <p:spPr>
          <a:xfrm>
            <a:off x="10268712" y="1638216"/>
            <a:ext cx="384048" cy="79004"/>
          </a:xfrm>
          <a:prstGeom prst="rect">
            <a:avLst/>
          </a:prstGeom>
          <a:solidFill>
            <a:srgbClr val="8E5CF3">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1" name="Shape 19"/>
          <p:cNvSpPr/>
          <p:nvPr/>
        </p:nvSpPr>
        <p:spPr>
          <a:xfrm>
            <a:off x="10927080" y="1638216"/>
            <a:ext cx="384048" cy="138257"/>
          </a:xfrm>
          <a:prstGeom prst="rect">
            <a:avLst/>
          </a:prstGeom>
          <a:solidFill>
            <a:srgbClr val="2ECAC6">
              <a:alpha val="80000"/>
            </a:srgbClr>
          </a:solidFill>
          <a:ln w="12700">
            <a:solidFill>
              <a:srgbClr val="24405F">
                <a:alpha val="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2" name="Shape 20"/>
          <p:cNvSpPr/>
          <p:nvPr/>
        </p:nvSpPr>
        <p:spPr>
          <a:xfrm>
            <a:off x="8732520" y="1053000"/>
            <a:ext cx="1554022" cy="3429000"/>
          </a:xfrm>
          <a:prstGeom prst="roundRect">
            <a:avLst>
              <a:gd name="adj" fmla="val 9697"/>
            </a:avLst>
          </a:prstGeom>
          <a:solidFill>
            <a:srgbClr val="111B2B"/>
          </a:solidFill>
          <a:ln w="13970">
            <a:solidFill>
              <a:srgbClr val="476B92"/>
            </a:solidFill>
            <a:prstDash val="solid"/>
          </a:ln>
          <a:effectLst>
            <a:outerShdw sx="100000" sy="100000" kx="0" ky="0" algn="bl" rotWithShape="0" blurRad="25400" dist="15240" dir="2700000">
              <a:srgbClr val="000000">
                <a:alpha val="28000"/>
              </a:srgbClr>
            </a:outerShdw>
          </a:effectLst>
        </p:spPr>
        <p:txBody>
          <a:bodyPr lIns="27432" rIns="27432" tIns="18288" bIns="18288" wrap="square" anchor="t">
            <a:noAutofit/>
          </a:bodyPr>
          <a:p>
            <a:pPr>
              <a:lnSpc>
                <a:spcPct val="100000"/>
              </a:lnSpc>
              <a:spcBef>
                <a:spcPts val="0"/>
              </a:spcBef>
              <a:spcAft>
                <a:spcPts val="0"/>
              </a:spcAft>
              <a:defRPr sz="1250"/>
            </a:pPr>
          </a:p>
        </p:txBody>
      </p:sp>
      <p:sp>
        <p:nvSpPr>
          <p:cNvPr id="23" name="Shape 21"/>
          <p:cNvSpPr/>
          <p:nvPr/>
        </p:nvSpPr>
        <p:spPr>
          <a:xfrm>
            <a:off x="8887968" y="1327320"/>
            <a:ext cx="1233799" cy="2862072"/>
          </a:xfrm>
          <a:prstGeom prst="roundRect">
            <a:avLst>
              <a:gd name="adj" fmla="val 6870"/>
            </a:avLst>
          </a:prstGeom>
          <a:solidFill>
            <a:srgbClr val="122A4F"/>
          </a:solidFill>
          <a:ln w="12700">
            <a:solidFill>
              <a:srgbClr val="122A4F">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4" name="Shape 22"/>
          <p:cNvSpPr/>
          <p:nvPr/>
        </p:nvSpPr>
        <p:spPr>
          <a:xfrm>
            <a:off x="9015984" y="1738800"/>
            <a:ext cx="244876" cy="256763"/>
          </a:xfrm>
          <a:prstGeom prst="roundRect">
            <a:avLst>
              <a:gd name="adj" fmla="val 15385"/>
            </a:avLst>
          </a:prstGeom>
          <a:solidFill>
            <a:srgbClr val="2F80ED"/>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5" name="Shape 23"/>
          <p:cNvSpPr/>
          <p:nvPr/>
        </p:nvSpPr>
        <p:spPr>
          <a:xfrm>
            <a:off x="9354312" y="1738800"/>
            <a:ext cx="244876" cy="256763"/>
          </a:xfrm>
          <a:prstGeom prst="roundRect">
            <a:avLst>
              <a:gd name="adj" fmla="val 15385"/>
            </a:avLst>
          </a:prstGeom>
          <a:solidFill>
            <a:srgbClr val="8E5CF3"/>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6" name="Shape 24"/>
          <p:cNvSpPr/>
          <p:nvPr/>
        </p:nvSpPr>
        <p:spPr>
          <a:xfrm>
            <a:off x="9692640" y="1738800"/>
            <a:ext cx="244876" cy="256763"/>
          </a:xfrm>
          <a:prstGeom prst="roundRect">
            <a:avLst>
              <a:gd name="adj" fmla="val 15385"/>
            </a:avLst>
          </a:prstGeom>
          <a:solidFill>
            <a:srgbClr val="F4D34D"/>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7" name="Shape 25"/>
          <p:cNvSpPr/>
          <p:nvPr/>
        </p:nvSpPr>
        <p:spPr>
          <a:xfrm>
            <a:off x="9015984" y="2241720"/>
            <a:ext cx="244876" cy="256763"/>
          </a:xfrm>
          <a:prstGeom prst="roundRect">
            <a:avLst>
              <a:gd name="adj" fmla="val 15385"/>
            </a:avLst>
          </a:prstGeom>
          <a:solidFill>
            <a:srgbClr val="2ECAC6"/>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8" name="Shape 26"/>
          <p:cNvSpPr/>
          <p:nvPr/>
        </p:nvSpPr>
        <p:spPr>
          <a:xfrm>
            <a:off x="9354312" y="2241720"/>
            <a:ext cx="244876" cy="256763"/>
          </a:xfrm>
          <a:prstGeom prst="roundRect">
            <a:avLst>
              <a:gd name="adj" fmla="val 15385"/>
            </a:avLst>
          </a:prstGeom>
          <a:solidFill>
            <a:srgbClr val="2F80ED"/>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9" name="Shape 27"/>
          <p:cNvSpPr/>
          <p:nvPr/>
        </p:nvSpPr>
        <p:spPr>
          <a:xfrm>
            <a:off x="9692640" y="2241720"/>
            <a:ext cx="244876" cy="256763"/>
          </a:xfrm>
          <a:prstGeom prst="roundRect">
            <a:avLst>
              <a:gd name="adj" fmla="val 15385"/>
            </a:avLst>
          </a:prstGeom>
          <a:solidFill>
            <a:srgbClr val="8E5CF3"/>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0" name="Shape 28"/>
          <p:cNvSpPr/>
          <p:nvPr/>
        </p:nvSpPr>
        <p:spPr>
          <a:xfrm>
            <a:off x="9015984" y="2744640"/>
            <a:ext cx="244876" cy="256763"/>
          </a:xfrm>
          <a:prstGeom prst="roundRect">
            <a:avLst>
              <a:gd name="adj" fmla="val 15385"/>
            </a:avLst>
          </a:prstGeom>
          <a:solidFill>
            <a:srgbClr val="F4D34D"/>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1" name="Shape 29"/>
          <p:cNvSpPr/>
          <p:nvPr/>
        </p:nvSpPr>
        <p:spPr>
          <a:xfrm>
            <a:off x="9354312" y="2744640"/>
            <a:ext cx="244876" cy="256763"/>
          </a:xfrm>
          <a:prstGeom prst="roundRect">
            <a:avLst>
              <a:gd name="adj" fmla="val 15385"/>
            </a:avLst>
          </a:prstGeom>
          <a:solidFill>
            <a:srgbClr val="2ECAC6"/>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2" name="Shape 30"/>
          <p:cNvSpPr/>
          <p:nvPr/>
        </p:nvSpPr>
        <p:spPr>
          <a:xfrm>
            <a:off x="9692640" y="2744640"/>
            <a:ext cx="244876" cy="256763"/>
          </a:xfrm>
          <a:prstGeom prst="roundRect">
            <a:avLst>
              <a:gd name="adj" fmla="val 15385"/>
            </a:avLst>
          </a:prstGeom>
          <a:solidFill>
            <a:srgbClr val="2F80ED"/>
          </a:solidFill>
          <a:ln w="12700">
            <a:solidFill>
              <a:srgbClr val="FFFFFF">
                <a:alpha val="20000"/>
              </a:srgbClr>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3" name="Shape 31"/>
          <p:cNvSpPr/>
          <p:nvPr/>
        </p:nvSpPr>
        <p:spPr>
          <a:xfrm>
            <a:off x="8092440" y="4719744"/>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4" name="Shape 32"/>
          <p:cNvSpPr/>
          <p:nvPr/>
        </p:nvSpPr>
        <p:spPr>
          <a:xfrm>
            <a:off x="8202168" y="4683168"/>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5" name="Shape 33"/>
          <p:cNvSpPr/>
          <p:nvPr/>
        </p:nvSpPr>
        <p:spPr>
          <a:xfrm>
            <a:off x="8311896" y="4646592"/>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6" name="Shape 34"/>
          <p:cNvSpPr/>
          <p:nvPr/>
        </p:nvSpPr>
        <p:spPr>
          <a:xfrm>
            <a:off x="8421624" y="4610016"/>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7" name="Shape 35"/>
          <p:cNvSpPr/>
          <p:nvPr/>
        </p:nvSpPr>
        <p:spPr>
          <a:xfrm>
            <a:off x="8531352" y="4573440"/>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8" name="Shape 36"/>
          <p:cNvSpPr/>
          <p:nvPr/>
        </p:nvSpPr>
        <p:spPr>
          <a:xfrm>
            <a:off x="8641080" y="4536864"/>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9" name="Shape 37"/>
          <p:cNvSpPr/>
          <p:nvPr/>
        </p:nvSpPr>
        <p:spPr>
          <a:xfrm>
            <a:off x="8750808" y="4500288"/>
            <a:ext cx="423824" cy="158008"/>
          </a:xfrm>
          <a:prstGeom prst="ellipse">
            <a:avLst/>
          </a:prstGeom>
          <a:solidFill>
            <a:srgbClr val="F4D34D">
              <a:alpha val="92000"/>
            </a:srgbClr>
          </a:solidFill>
          <a:ln w="5080">
            <a:solidFill>
              <a:srgbClr val="C89F25"/>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40" name="Text 38"/>
          <p:cNvSpPr/>
          <p:nvPr/>
        </p:nvSpPr>
        <p:spPr>
          <a:xfrm>
            <a:off x="530352" y="1327320"/>
            <a:ext cx="5368442" cy="153070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800" b="1" dirty="0">
                <a:solidFill>
                  <a:srgbClr val="FFFFFF"/>
                </a:solidFill>
                <a:latin typeface="Aptos Display" pitchFamily="34" charset="0"/>
                <a:ea typeface="Aptos Display" pitchFamily="34" charset="-122"/>
                <a:cs typeface="Aptos Display" pitchFamily="34" charset="-120"/>
              </a:rPr>
              <a:t>Mobile Game</a:t>
            </a:r>
            <a:endParaRPr lang="en-US" sz="2800" dirty="0"/>
          </a:p>
          <a:p>
            <a:pPr indent="0" marL="0">
              <a:lnSpc>
                <a:spcPct val="100000"/>
              </a:lnSpc>
              <a:spcBef>
                <a:spcPts val="0"/>
              </a:spcBef>
              <a:spcAft>
                <a:spcPts val="0"/>
              </a:spcAft>
              <a:buNone/>
            </a:pPr>
            <a:r>
              <a:rPr lang="en-US" sz="2800" b="1" dirty="0">
                <a:solidFill>
                  <a:srgbClr val="FFFFFF"/>
                </a:solidFill>
                <a:latin typeface="Aptos Display" pitchFamily="34" charset="0"/>
                <a:ea typeface="Aptos Display" pitchFamily="34" charset="-122"/>
                <a:cs typeface="Aptos Display" pitchFamily="34" charset="-120"/>
              </a:rPr>
              <a:t>In-App Purchase</a:t>
            </a:r>
            <a:endParaRPr lang="en-US" sz="2800" dirty="0"/>
          </a:p>
          <a:p>
            <a:pPr indent="0" marL="0">
              <a:lnSpc>
                <a:spcPct val="100000"/>
              </a:lnSpc>
              <a:spcBef>
                <a:spcPts val="0"/>
              </a:spcBef>
              <a:spcAft>
                <a:spcPts val="0"/>
              </a:spcAft>
              <a:buNone/>
            </a:pPr>
            <a:r>
              <a:rPr lang="en-US" sz="2800" b="1" dirty="0">
                <a:solidFill>
                  <a:srgbClr val="FFFFFF"/>
                </a:solidFill>
                <a:latin typeface="Aptos Display" pitchFamily="34" charset="0"/>
                <a:ea typeface="Aptos Display" pitchFamily="34" charset="-122"/>
                <a:cs typeface="Aptos Display" pitchFamily="34" charset="-120"/>
              </a:rPr>
              <a:t>Behavior Analysis</a:t>
            </a:r>
            <a:endParaRPr lang="en-US" sz="2800" dirty="0"/>
          </a:p>
        </p:txBody>
      </p:sp>
      <p:sp>
        <p:nvSpPr>
          <p:cNvPr id="41" name="Text 39"/>
          <p:cNvSpPr/>
          <p:nvPr/>
        </p:nvSpPr>
        <p:spPr>
          <a:xfrm>
            <a:off x="548640" y="2982384"/>
            <a:ext cx="3955694"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400" dirty="0">
                <a:solidFill>
                  <a:srgbClr val="2ECAC6"/>
                </a:solidFill>
              </a:rPr>
              <a:t>Final Data Analytics Project Presentation</a:t>
            </a:r>
            <a:endParaRPr lang="en-US" sz="820" dirty="0"/>
          </a:p>
        </p:txBody>
      </p:sp>
      <p:sp>
        <p:nvSpPr>
          <p:cNvPr id="42" name="Text 40"/>
          <p:cNvSpPr/>
          <p:nvPr/>
        </p:nvSpPr>
        <p:spPr>
          <a:xfrm>
            <a:off x="548640" y="3320712"/>
            <a:ext cx="4426610"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00" dirty="0">
                <a:solidFill>
                  <a:srgbClr val="B9C9D8"/>
                </a:solidFill>
              </a:rPr>
              <a:t>Daniel Arias • Weican Ye • Arjun Mod • Nikhilesh Iyer</a:t>
            </a:r>
            <a:endParaRPr lang="en-US" sz="650" dirty="0"/>
          </a:p>
        </p:txBody>
      </p:sp>
      <p:sp>
        <p:nvSpPr>
          <p:cNvPr id="43" name="Shape 41"/>
          <p:cNvSpPr/>
          <p:nvPr/>
        </p:nvSpPr>
        <p:spPr>
          <a:xfrm>
            <a:off x="566928" y="3704760"/>
            <a:ext cx="1299728" cy="266639"/>
          </a:xfrm>
          <a:prstGeom prst="roundRect">
            <a:avLst>
              <a:gd name="adj" fmla="val 14815"/>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44" name="Text 42"/>
          <p:cNvSpPr/>
          <p:nvPr/>
        </p:nvSpPr>
        <p:spPr>
          <a:xfrm>
            <a:off x="621792" y="3764196"/>
            <a:ext cx="1186708" cy="88879"/>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200" b="1" dirty="0">
                <a:solidFill>
                  <a:srgbClr val="FFFFFF"/>
                </a:solidFill>
              </a:rPr>
              <a:t>Gaming Analytics</a:t>
            </a:r>
            <a:endParaRPr lang="en-US" sz="640" dirty="0"/>
          </a:p>
        </p:txBody>
      </p:sp>
      <p:sp>
        <p:nvSpPr>
          <p:cNvPr id="45" name="Shape 43"/>
          <p:cNvSpPr/>
          <p:nvPr/>
        </p:nvSpPr>
        <p:spPr>
          <a:xfrm>
            <a:off x="1901952" y="3704760"/>
            <a:ext cx="1299728" cy="266639"/>
          </a:xfrm>
          <a:prstGeom prst="roundRect">
            <a:avLst>
              <a:gd name="adj" fmla="val 14815"/>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46" name="Text 44"/>
          <p:cNvSpPr/>
          <p:nvPr/>
        </p:nvSpPr>
        <p:spPr>
          <a:xfrm>
            <a:off x="1956816" y="3764196"/>
            <a:ext cx="1186708" cy="88879"/>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200" b="1" dirty="0">
                <a:solidFill>
                  <a:srgbClr val="FFFFFF"/>
                </a:solidFill>
              </a:rPr>
              <a:t>Purchase Behavior</a:t>
            </a:r>
            <a:endParaRPr lang="en-US" sz="640" dirty="0"/>
          </a:p>
        </p:txBody>
      </p:sp>
      <p:sp>
        <p:nvSpPr>
          <p:cNvPr id="47" name="Shape 45"/>
          <p:cNvSpPr/>
          <p:nvPr/>
        </p:nvSpPr>
        <p:spPr>
          <a:xfrm>
            <a:off x="3246120" y="3704760"/>
            <a:ext cx="1299728" cy="266639"/>
          </a:xfrm>
          <a:prstGeom prst="roundRect">
            <a:avLst>
              <a:gd name="adj" fmla="val 14815"/>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48" name="Text 46"/>
          <p:cNvSpPr/>
          <p:nvPr/>
        </p:nvSpPr>
        <p:spPr>
          <a:xfrm>
            <a:off x="3300984" y="3764196"/>
            <a:ext cx="1186708" cy="88879"/>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200" b="1" dirty="0">
                <a:solidFill>
                  <a:srgbClr val="FFFFFF"/>
                </a:solidFill>
              </a:rPr>
              <a:t>Power BI</a:t>
            </a:r>
            <a:endParaRPr lang="en-US" sz="640" dirty="0"/>
          </a:p>
        </p:txBody>
      </p:sp>
      <p:sp>
        <p:nvSpPr>
          <p:cNvPr id="49" name="Shape 47"/>
          <p:cNvSpPr/>
          <p:nvPr/>
        </p:nvSpPr>
        <p:spPr>
          <a:xfrm>
            <a:off x="548640" y="4353984"/>
            <a:ext cx="3484778" cy="0"/>
          </a:xfrm>
          <a:prstGeom prst="line">
            <a:avLst/>
          </a:prstGeom>
          <a:noFill/>
          <a:ln w="27940">
            <a:solidFill>
              <a:srgbClr val="F4D34D"/>
            </a:solidFill>
            <a:prstDash val="solid"/>
          </a:ln>
        </p:spPr>
        <p:txBody>
          <a:bodyPr lIns="27432" rIns="27432" tIns="18288" bIns="18288" wrap="square" anchor="t">
            <a:noAutofit/>
          </a:bodyPr>
          <a:p>
            <a:pPr>
              <a:lnSpc>
                <a:spcPct val="100000"/>
              </a:lnSpc>
              <a:spcBef>
                <a:spcPts val="0"/>
              </a:spcBef>
              <a:spcAft>
                <a:spcPts val="0"/>
              </a:spcAft>
              <a:defRPr sz="1600"/>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Presentation Roadmap</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From raw data to EDA, Power BI visuals, and business conclusions</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2</a:t>
            </a:r>
            <a:endParaRPr lang="en-US" sz="580" dirty="0"/>
          </a:p>
        </p:txBody>
      </p:sp>
      <p:sp>
        <p:nvSpPr>
          <p:cNvPr id="9" name="Shape 7"/>
          <p:cNvSpPr/>
          <p:nvPr/>
        </p:nvSpPr>
        <p:spPr>
          <a:xfrm>
            <a:off x="685800" y="1098720"/>
            <a:ext cx="357896" cy="375269"/>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Text 8"/>
          <p:cNvSpPr/>
          <p:nvPr/>
        </p:nvSpPr>
        <p:spPr>
          <a:xfrm>
            <a:off x="685800" y="1194732"/>
            <a:ext cx="357896" cy="79004"/>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300" b="1" dirty="0">
                <a:solidFill>
                  <a:srgbClr val="FFFFFF"/>
                </a:solidFill>
              </a:rPr>
              <a:t>1</a:t>
            </a:r>
            <a:endParaRPr lang="en-US" sz="760" dirty="0"/>
          </a:p>
        </p:txBody>
      </p:sp>
      <p:sp>
        <p:nvSpPr>
          <p:cNvPr id="11" name="Text 9"/>
          <p:cNvSpPr/>
          <p:nvPr/>
        </p:nvSpPr>
        <p:spPr>
          <a:xfrm>
            <a:off x="1234440" y="1126152"/>
            <a:ext cx="2637129"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Project context</a:t>
            </a:r>
            <a:endParaRPr lang="en-US" sz="970" dirty="0"/>
          </a:p>
        </p:txBody>
      </p:sp>
      <p:sp>
        <p:nvSpPr>
          <p:cNvPr id="12" name="Text 10"/>
          <p:cNvSpPr/>
          <p:nvPr/>
        </p:nvSpPr>
        <p:spPr>
          <a:xfrm>
            <a:off x="1234440" y="1327320"/>
            <a:ext cx="3767328" cy="14813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dirty="0">
                <a:solidFill>
                  <a:srgbClr val="B9C9D8"/>
                </a:solidFill>
              </a:rPr>
              <a:t>Question, objective, business value</a:t>
            </a:r>
            <a:endParaRPr lang="en-US" sz="660" dirty="0"/>
          </a:p>
        </p:txBody>
      </p:sp>
      <p:sp>
        <p:nvSpPr>
          <p:cNvPr id="13" name="Shape 11"/>
          <p:cNvSpPr/>
          <p:nvPr/>
        </p:nvSpPr>
        <p:spPr>
          <a:xfrm>
            <a:off x="685800" y="1848528"/>
            <a:ext cx="357896" cy="375269"/>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Text 12"/>
          <p:cNvSpPr/>
          <p:nvPr/>
        </p:nvSpPr>
        <p:spPr>
          <a:xfrm>
            <a:off x="685800" y="1944540"/>
            <a:ext cx="357896" cy="79004"/>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300" b="1" dirty="0">
                <a:solidFill>
                  <a:srgbClr val="FFFFFF"/>
                </a:solidFill>
              </a:rPr>
              <a:t>2</a:t>
            </a:r>
            <a:endParaRPr lang="en-US" sz="760" dirty="0"/>
          </a:p>
        </p:txBody>
      </p:sp>
      <p:sp>
        <p:nvSpPr>
          <p:cNvPr id="15" name="Text 13"/>
          <p:cNvSpPr/>
          <p:nvPr/>
        </p:nvSpPr>
        <p:spPr>
          <a:xfrm>
            <a:off x="1234440" y="1875960"/>
            <a:ext cx="2637129"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Data foundation</a:t>
            </a:r>
            <a:endParaRPr lang="en-US" sz="970" dirty="0"/>
          </a:p>
        </p:txBody>
      </p:sp>
      <p:sp>
        <p:nvSpPr>
          <p:cNvPr id="16" name="Text 14"/>
          <p:cNvSpPr/>
          <p:nvPr/>
        </p:nvSpPr>
        <p:spPr>
          <a:xfrm>
            <a:off x="1234440" y="2077128"/>
            <a:ext cx="3767328" cy="14813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Players + purchases, quality checks, KPIs</a:t>
            </a:r>
            <a:endParaRPr lang="en-US" sz="660" dirty="0"/>
          </a:p>
        </p:txBody>
      </p:sp>
      <p:sp>
        <p:nvSpPr>
          <p:cNvPr id="17" name="Shape 15"/>
          <p:cNvSpPr/>
          <p:nvPr/>
        </p:nvSpPr>
        <p:spPr>
          <a:xfrm>
            <a:off x="685800" y="2598336"/>
            <a:ext cx="357896" cy="375269"/>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Text 16"/>
          <p:cNvSpPr/>
          <p:nvPr/>
        </p:nvSpPr>
        <p:spPr>
          <a:xfrm>
            <a:off x="685800" y="2694348"/>
            <a:ext cx="357896" cy="79004"/>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300" b="1" dirty="0">
                <a:solidFill>
                  <a:srgbClr val="FFFFFF"/>
                </a:solidFill>
              </a:rPr>
              <a:t>3</a:t>
            </a:r>
            <a:endParaRPr lang="en-US" sz="760" dirty="0"/>
          </a:p>
        </p:txBody>
      </p:sp>
      <p:sp>
        <p:nvSpPr>
          <p:cNvPr id="19" name="Text 17"/>
          <p:cNvSpPr/>
          <p:nvPr/>
        </p:nvSpPr>
        <p:spPr>
          <a:xfrm>
            <a:off x="1234440" y="2625768"/>
            <a:ext cx="2637129"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EDA findings</a:t>
            </a:r>
            <a:endParaRPr lang="en-US" sz="970" dirty="0"/>
          </a:p>
        </p:txBody>
      </p:sp>
      <p:sp>
        <p:nvSpPr>
          <p:cNvPr id="20" name="Text 18"/>
          <p:cNvSpPr/>
          <p:nvPr/>
        </p:nvSpPr>
        <p:spPr>
          <a:xfrm>
            <a:off x="1234440" y="2826936"/>
            <a:ext cx="3767328" cy="14813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Demographics, segments, spending, engagement</a:t>
            </a:r>
            <a:endParaRPr lang="en-US" sz="660" dirty="0"/>
          </a:p>
        </p:txBody>
      </p:sp>
      <p:sp>
        <p:nvSpPr>
          <p:cNvPr id="21" name="Shape 19"/>
          <p:cNvSpPr/>
          <p:nvPr/>
        </p:nvSpPr>
        <p:spPr>
          <a:xfrm>
            <a:off x="685800" y="3348144"/>
            <a:ext cx="357896" cy="375269"/>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Text 20"/>
          <p:cNvSpPr/>
          <p:nvPr/>
        </p:nvSpPr>
        <p:spPr>
          <a:xfrm>
            <a:off x="685800" y="3444156"/>
            <a:ext cx="357896" cy="79004"/>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300" b="1" dirty="0">
                <a:solidFill>
                  <a:srgbClr val="FFFFFF"/>
                </a:solidFill>
              </a:rPr>
              <a:t>4</a:t>
            </a:r>
            <a:endParaRPr lang="en-US" sz="760" dirty="0"/>
          </a:p>
        </p:txBody>
      </p:sp>
      <p:sp>
        <p:nvSpPr>
          <p:cNvPr id="23" name="Text 21"/>
          <p:cNvSpPr/>
          <p:nvPr/>
        </p:nvSpPr>
        <p:spPr>
          <a:xfrm>
            <a:off x="1234440" y="3375576"/>
            <a:ext cx="2637129"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Power BI visuals</a:t>
            </a:r>
            <a:endParaRPr lang="en-US" sz="970" dirty="0"/>
          </a:p>
        </p:txBody>
      </p:sp>
      <p:sp>
        <p:nvSpPr>
          <p:cNvPr id="24" name="Text 22"/>
          <p:cNvSpPr/>
          <p:nvPr/>
        </p:nvSpPr>
        <p:spPr>
          <a:xfrm>
            <a:off x="1234440" y="3576744"/>
            <a:ext cx="3767328" cy="14813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Executive, segmentation, behavior dashboards</a:t>
            </a:r>
            <a:endParaRPr lang="en-US" sz="660" dirty="0"/>
          </a:p>
        </p:txBody>
      </p:sp>
      <p:sp>
        <p:nvSpPr>
          <p:cNvPr id="25" name="Shape 23"/>
          <p:cNvSpPr/>
          <p:nvPr/>
        </p:nvSpPr>
        <p:spPr>
          <a:xfrm>
            <a:off x="685800" y="4097952"/>
            <a:ext cx="357896" cy="375269"/>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6" name="Text 24"/>
          <p:cNvSpPr/>
          <p:nvPr/>
        </p:nvSpPr>
        <p:spPr>
          <a:xfrm>
            <a:off x="685800" y="4193964"/>
            <a:ext cx="357896" cy="79004"/>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300" b="1" dirty="0">
                <a:solidFill>
                  <a:srgbClr val="FFFFFF"/>
                </a:solidFill>
              </a:rPr>
              <a:t>5</a:t>
            </a:r>
            <a:endParaRPr lang="en-US" sz="760" dirty="0"/>
          </a:p>
        </p:txBody>
      </p:sp>
      <p:sp>
        <p:nvSpPr>
          <p:cNvPr id="27" name="Text 25"/>
          <p:cNvSpPr/>
          <p:nvPr/>
        </p:nvSpPr>
        <p:spPr>
          <a:xfrm>
            <a:off x="1234440" y="4125384"/>
            <a:ext cx="2637129"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Insights &amp; conclusion</a:t>
            </a:r>
            <a:endParaRPr lang="en-US" sz="970" dirty="0"/>
          </a:p>
        </p:txBody>
      </p:sp>
      <p:sp>
        <p:nvSpPr>
          <p:cNvPr id="28" name="Text 26"/>
          <p:cNvSpPr/>
          <p:nvPr/>
        </p:nvSpPr>
        <p:spPr>
          <a:xfrm>
            <a:off x="1234440" y="4326552"/>
            <a:ext cx="3767328" cy="14813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Recommendations and final business message</a:t>
            </a:r>
            <a:endParaRPr lang="en-US" sz="660" dirty="0"/>
          </a:p>
        </p:txBody>
      </p:sp>
      <p:sp>
        <p:nvSpPr>
          <p:cNvPr id="29" name="Text 27"/>
          <p:cNvSpPr/>
          <p:nvPr/>
        </p:nvSpPr>
        <p:spPr>
          <a:xfrm>
            <a:off x="10012680" y="934128"/>
            <a:ext cx="1188720" cy="79004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250" b="1" dirty="0">
                <a:solidFill>
                  <a:srgbClr val="FFFFFF"/>
                </a:solidFill>
              </a:rPr>
              <a:t>End-to-end</a:t>
            </a:r>
            <a:endParaRPr lang="en-US" sz="850" dirty="0"/>
          </a:p>
          <a:p>
            <a:pPr algn="ctr" indent="0" marL="0">
              <a:lnSpc>
                <a:spcPct val="100000"/>
              </a:lnSpc>
              <a:spcBef>
                <a:spcPts val="0"/>
              </a:spcBef>
              <a:spcAft>
                <a:spcPts val="0"/>
              </a:spcAft>
              <a:buNone/>
            </a:pPr>
            <a:r>
              <a:rPr lang="en-US" sz="1250" b="1" dirty="0">
                <a:solidFill>
                  <a:srgbClr val="FFFFFF"/>
                </a:solidFill>
              </a:rPr>
              <a:t>analytics</a:t>
            </a:r>
            <a:endParaRPr lang="en-US" sz="850" dirty="0"/>
          </a:p>
          <a:p>
            <a:pPr algn="ctr" indent="0" marL="0">
              <a:lnSpc>
                <a:spcPct val="100000"/>
              </a:lnSpc>
              <a:spcBef>
                <a:spcPts val="0"/>
              </a:spcBef>
              <a:spcAft>
                <a:spcPts val="0"/>
              </a:spcAft>
              <a:buNone/>
            </a:pPr>
            <a:r>
              <a:rPr lang="en-US" sz="1250" b="1" dirty="0">
                <a:solidFill>
                  <a:srgbClr val="FFFFFF"/>
                </a:solidFill>
              </a:rPr>
              <a:t>story</a:t>
            </a:r>
            <a:endParaRPr lang="en-US" sz="850" dirty="0"/>
          </a:p>
        </p:txBody>
      </p:sp>
      <p:sp>
        <p:nvSpPr>
          <p:cNvPr id="30" name="Shape 28"/>
          <p:cNvSpPr/>
          <p:nvPr/>
        </p:nvSpPr>
        <p:spPr>
          <a:xfrm>
            <a:off x="9555480" y="749808"/>
            <a:ext cx="1600200" cy="1600200"/>
          </a:xfrm>
          <a:prstGeom prst="arc">
            <a:avLst/>
          </a:prstGeom>
          <a:noFill/>
          <a:ln w="15240">
            <a:solidFill>
              <a:srgbClr val="2ECAC6">
                <a:alpha val="85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1" name="Text 29"/>
          <p:cNvSpPr/>
          <p:nvPr/>
        </p:nvSpPr>
        <p:spPr>
          <a:xfrm>
            <a:off x="8732520" y="2854368"/>
            <a:ext cx="2354580" cy="197510"/>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500" dirty="0">
                <a:solidFill>
                  <a:srgbClr val="91A6BD"/>
                </a:solidFill>
              </a:rPr>
              <a:t>Source: EDA report + Power BI dashboard visuals</a:t>
            </a:r>
            <a:endParaRPr lang="en-US" sz="5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Project Objective</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Understand purchase behavior and turn raw gaming data into business-ready insight</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3</a:t>
            </a:r>
            <a:endParaRPr lang="en-US" sz="580" dirty="0"/>
          </a:p>
        </p:txBody>
      </p:sp>
      <p:sp>
        <p:nvSpPr>
          <p:cNvPr id="9" name="Text 7"/>
          <p:cNvSpPr/>
          <p:nvPr/>
        </p:nvSpPr>
        <p:spPr>
          <a:xfrm>
            <a:off x="640080" y="850000"/>
            <a:ext cx="1883664"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2ECAC6"/>
                </a:solidFill>
              </a:rPr>
              <a:t>Core question</a:t>
            </a:r>
            <a:endParaRPr lang="en-US" sz="720" dirty="0"/>
          </a:p>
        </p:txBody>
      </p:sp>
      <p:sp>
        <p:nvSpPr>
          <p:cNvPr id="10" name="Text 8"/>
          <p:cNvSpPr/>
          <p:nvPr/>
        </p:nvSpPr>
        <p:spPr>
          <a:xfrm>
            <a:off x="640080" y="1126152"/>
            <a:ext cx="5745175" cy="67153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b="1" dirty="0">
                <a:solidFill>
                  <a:srgbClr val="FFFFFF"/>
                </a:solidFill>
              </a:rPr>
              <a:t>What factors influence mobile gamers</a:t>
            </a:r>
            <a:endParaRPr lang="en-US" sz="1850" dirty="0"/>
          </a:p>
          <a:p>
            <a:pPr indent="0" marL="0">
              <a:lnSpc>
                <a:spcPct val="100000"/>
              </a:lnSpc>
              <a:spcBef>
                <a:spcPts val="0"/>
              </a:spcBef>
              <a:spcAft>
                <a:spcPts val="0"/>
              </a:spcAft>
              <a:buNone/>
            </a:pPr>
            <a:r>
              <a:rPr lang="en-US" sz="1250" b="1" dirty="0">
                <a:solidFill>
                  <a:srgbClr val="FFFFFF"/>
                </a:solidFill>
              </a:rPr>
              <a:t>to make in-game purchases?</a:t>
            </a:r>
            <a:endParaRPr lang="en-US" sz="1850" dirty="0"/>
          </a:p>
        </p:txBody>
      </p:sp>
      <p:sp>
        <p:nvSpPr>
          <p:cNvPr id="11" name="Shape 9"/>
          <p:cNvSpPr/>
          <p:nvPr/>
        </p:nvSpPr>
        <p:spPr>
          <a:xfrm>
            <a:off x="685800" y="2424600"/>
            <a:ext cx="2072030" cy="276514"/>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2" name="Text 10"/>
          <p:cNvSpPr/>
          <p:nvPr/>
        </p:nvSpPr>
        <p:spPr>
          <a:xfrm>
            <a:off x="758952" y="2479464"/>
            <a:ext cx="1921337"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Player profile</a:t>
            </a:r>
            <a:endParaRPr lang="en-US" sz="680" dirty="0"/>
          </a:p>
        </p:txBody>
      </p:sp>
      <p:sp>
        <p:nvSpPr>
          <p:cNvPr id="13" name="Text 11"/>
          <p:cNvSpPr/>
          <p:nvPr/>
        </p:nvSpPr>
        <p:spPr>
          <a:xfrm>
            <a:off x="713232" y="2854368"/>
            <a:ext cx="2542946" cy="276514"/>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Age, gender, geography, device, genre</a:t>
            </a:r>
            <a:endParaRPr lang="en-US" sz="710" dirty="0"/>
          </a:p>
        </p:txBody>
      </p:sp>
      <p:sp>
        <p:nvSpPr>
          <p:cNvPr id="14" name="Shape 12"/>
          <p:cNvSpPr/>
          <p:nvPr/>
        </p:nvSpPr>
        <p:spPr>
          <a:xfrm>
            <a:off x="4160520" y="2424600"/>
            <a:ext cx="2072030" cy="276514"/>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5" name="Text 13"/>
          <p:cNvSpPr/>
          <p:nvPr/>
        </p:nvSpPr>
        <p:spPr>
          <a:xfrm>
            <a:off x="4233672" y="2479464"/>
            <a:ext cx="1921337"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Engagement</a:t>
            </a:r>
            <a:endParaRPr lang="en-US" sz="680" dirty="0"/>
          </a:p>
        </p:txBody>
      </p:sp>
      <p:sp>
        <p:nvSpPr>
          <p:cNvPr id="16" name="Text 14"/>
          <p:cNvSpPr/>
          <p:nvPr/>
        </p:nvSpPr>
        <p:spPr>
          <a:xfrm>
            <a:off x="4187952" y="2854368"/>
            <a:ext cx="2542946" cy="276514"/>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Session behavior, activity, game genre</a:t>
            </a:r>
            <a:endParaRPr lang="en-US" sz="710" dirty="0"/>
          </a:p>
        </p:txBody>
      </p:sp>
      <p:sp>
        <p:nvSpPr>
          <p:cNvPr id="17" name="Shape 15"/>
          <p:cNvSpPr/>
          <p:nvPr/>
        </p:nvSpPr>
        <p:spPr>
          <a:xfrm>
            <a:off x="7635240" y="2424600"/>
            <a:ext cx="2072030" cy="276514"/>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8" name="Text 16"/>
          <p:cNvSpPr/>
          <p:nvPr/>
        </p:nvSpPr>
        <p:spPr>
          <a:xfrm>
            <a:off x="7708392" y="2479464"/>
            <a:ext cx="1921337"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Monetization</a:t>
            </a:r>
            <a:endParaRPr lang="en-US" sz="680" dirty="0"/>
          </a:p>
        </p:txBody>
      </p:sp>
      <p:sp>
        <p:nvSpPr>
          <p:cNvPr id="19" name="Text 17"/>
          <p:cNvSpPr/>
          <p:nvPr/>
        </p:nvSpPr>
        <p:spPr>
          <a:xfrm>
            <a:off x="7662672" y="2854368"/>
            <a:ext cx="2731312" cy="276514"/>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Purchase amount, segment, payment method</a:t>
            </a:r>
            <a:endParaRPr lang="en-US" sz="710" dirty="0"/>
          </a:p>
        </p:txBody>
      </p:sp>
      <p:sp>
        <p:nvSpPr>
          <p:cNvPr id="20" name="Shape 18"/>
          <p:cNvSpPr/>
          <p:nvPr/>
        </p:nvSpPr>
        <p:spPr>
          <a:xfrm>
            <a:off x="2834640" y="4253400"/>
            <a:ext cx="1036015" cy="345643"/>
          </a:xfrm>
          <a:prstGeom prst="rightArrow">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21" name="Shape 19"/>
          <p:cNvSpPr/>
          <p:nvPr/>
        </p:nvSpPr>
        <p:spPr>
          <a:xfrm>
            <a:off x="7040880" y="4253400"/>
            <a:ext cx="1036015" cy="345643"/>
          </a:xfrm>
          <a:prstGeom prst="rightArrow">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22" name="Text 20"/>
          <p:cNvSpPr/>
          <p:nvPr/>
        </p:nvSpPr>
        <p:spPr>
          <a:xfrm>
            <a:off x="4114800" y="4097952"/>
            <a:ext cx="2919679" cy="54315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250" b="1" dirty="0">
                <a:solidFill>
                  <a:srgbClr val="F4D34D"/>
                </a:solidFill>
              </a:rPr>
              <a:t>Data → Patterns → Business</a:t>
            </a:r>
            <a:endParaRPr lang="en-US" sz="1320" dirty="0"/>
          </a:p>
          <a:p>
            <a:pPr algn="ctr" indent="0" marL="0">
              <a:lnSpc>
                <a:spcPct val="100000"/>
              </a:lnSpc>
              <a:spcBef>
                <a:spcPts val="0"/>
              </a:spcBef>
              <a:spcAft>
                <a:spcPts val="0"/>
              </a:spcAft>
              <a:buNone/>
            </a:pPr>
            <a:r>
              <a:rPr lang="en-US" sz="1250" b="1" dirty="0">
                <a:solidFill>
                  <a:srgbClr val="F4D34D"/>
                </a:solidFill>
              </a:rPr>
              <a:t>Decisions</a:t>
            </a:r>
            <a:endParaRPr lang="en-US" sz="13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Data Foundation &amp; Quality</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Two connected datasets support player and purchase analysis</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4</a:t>
            </a:r>
            <a:endParaRPr lang="en-US" sz="580" dirty="0"/>
          </a:p>
        </p:txBody>
      </p:sp>
      <p:sp>
        <p:nvSpPr>
          <p:cNvPr id="9" name="Shape 7"/>
          <p:cNvSpPr/>
          <p:nvPr/>
        </p:nvSpPr>
        <p:spPr>
          <a:xfrm>
            <a:off x="640080" y="961560"/>
            <a:ext cx="3343503" cy="1530705"/>
          </a:xfrm>
          <a:prstGeom prst="roundRect">
            <a:avLst>
              <a:gd name="adj" fmla="val 3226"/>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Shape 8"/>
          <p:cNvSpPr/>
          <p:nvPr/>
        </p:nvSpPr>
        <p:spPr>
          <a:xfrm>
            <a:off x="640080" y="961560"/>
            <a:ext cx="75346" cy="1530705"/>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1" name="Text 9"/>
          <p:cNvSpPr/>
          <p:nvPr/>
        </p:nvSpPr>
        <p:spPr>
          <a:xfrm>
            <a:off x="804672" y="1107864"/>
            <a:ext cx="306095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Players dataset</a:t>
            </a:r>
            <a:endParaRPr lang="en-US" sz="940" dirty="0"/>
          </a:p>
        </p:txBody>
      </p:sp>
      <p:sp>
        <p:nvSpPr>
          <p:cNvPr id="12" name="Text 10"/>
          <p:cNvSpPr/>
          <p:nvPr/>
        </p:nvSpPr>
        <p:spPr>
          <a:xfrm>
            <a:off x="804672" y="1400472"/>
            <a:ext cx="3060954" cy="95792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3,024 unique player records and 18 attributes including age, gender, country, device, genre, sessions, playtime, spending segment, and purchase metrics.</a:t>
            </a:r>
            <a:endParaRPr lang="en-US" sz="740" dirty="0"/>
          </a:p>
        </p:txBody>
      </p:sp>
      <p:sp>
        <p:nvSpPr>
          <p:cNvPr id="13" name="Shape 11"/>
          <p:cNvSpPr/>
          <p:nvPr/>
        </p:nvSpPr>
        <p:spPr>
          <a:xfrm>
            <a:off x="4480560" y="961560"/>
            <a:ext cx="3343503" cy="1530705"/>
          </a:xfrm>
          <a:prstGeom prst="roundRect">
            <a:avLst>
              <a:gd name="adj" fmla="val 3226"/>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Shape 12"/>
          <p:cNvSpPr/>
          <p:nvPr/>
        </p:nvSpPr>
        <p:spPr>
          <a:xfrm>
            <a:off x="4480560" y="961560"/>
            <a:ext cx="75346" cy="1530705"/>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5" name="Text 13"/>
          <p:cNvSpPr/>
          <p:nvPr/>
        </p:nvSpPr>
        <p:spPr>
          <a:xfrm>
            <a:off x="4645152" y="1107864"/>
            <a:ext cx="306095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Purchases dataset</a:t>
            </a:r>
            <a:endParaRPr lang="en-US" sz="940" dirty="0"/>
          </a:p>
        </p:txBody>
      </p:sp>
      <p:sp>
        <p:nvSpPr>
          <p:cNvPr id="16" name="Text 14"/>
          <p:cNvSpPr/>
          <p:nvPr/>
        </p:nvSpPr>
        <p:spPr>
          <a:xfrm>
            <a:off x="4645152" y="1400472"/>
            <a:ext cx="3060954" cy="95792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2,887 transaction records and 10 attributes including purchase amount, purchase date, payment method, purchase segment, and days since installation.</a:t>
            </a:r>
            <a:endParaRPr lang="en-US" sz="740" dirty="0"/>
          </a:p>
        </p:txBody>
      </p:sp>
      <p:sp>
        <p:nvSpPr>
          <p:cNvPr id="17" name="Shape 15"/>
          <p:cNvSpPr/>
          <p:nvPr/>
        </p:nvSpPr>
        <p:spPr>
          <a:xfrm>
            <a:off x="8321040" y="961560"/>
            <a:ext cx="2919679" cy="1530705"/>
          </a:xfrm>
          <a:prstGeom prst="roundRect">
            <a:avLst>
              <a:gd name="adj" fmla="val 3226"/>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Shape 16"/>
          <p:cNvSpPr/>
          <p:nvPr/>
        </p:nvSpPr>
        <p:spPr>
          <a:xfrm>
            <a:off x="8321040" y="961560"/>
            <a:ext cx="75346" cy="1530705"/>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9" name="Text 17"/>
          <p:cNvSpPr/>
          <p:nvPr/>
        </p:nvSpPr>
        <p:spPr>
          <a:xfrm>
            <a:off x="8485632" y="1107864"/>
            <a:ext cx="2637129"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Data quality</a:t>
            </a:r>
            <a:endParaRPr lang="en-US" sz="940" dirty="0"/>
          </a:p>
        </p:txBody>
      </p:sp>
      <p:sp>
        <p:nvSpPr>
          <p:cNvPr id="20" name="Text 18"/>
          <p:cNvSpPr/>
          <p:nvPr/>
        </p:nvSpPr>
        <p:spPr>
          <a:xfrm>
            <a:off x="8485632" y="1400472"/>
            <a:ext cx="2637129" cy="95792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The transaction dataset is complete. Missing demographic and purchase-date fields are limited and manageable for EDA.</a:t>
            </a:r>
            <a:endParaRPr lang="en-US" sz="740" dirty="0"/>
          </a:p>
        </p:txBody>
      </p:sp>
      <p:sp>
        <p:nvSpPr>
          <p:cNvPr id="21" name="Shape 19"/>
          <p:cNvSpPr/>
          <p:nvPr/>
        </p:nvSpPr>
        <p:spPr>
          <a:xfrm>
            <a:off x="685800" y="2973240"/>
            <a:ext cx="1506931"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Text 20"/>
          <p:cNvSpPr/>
          <p:nvPr/>
        </p:nvSpPr>
        <p:spPr>
          <a:xfrm>
            <a:off x="758952" y="3119544"/>
            <a:ext cx="1356238"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2F80ED"/>
                </a:solidFill>
              </a:rPr>
              <a:t>33.53</a:t>
            </a:r>
            <a:endParaRPr lang="en-US" sz="1540" dirty="0"/>
          </a:p>
        </p:txBody>
      </p:sp>
      <p:sp>
        <p:nvSpPr>
          <p:cNvPr id="23" name="Text 21"/>
          <p:cNvSpPr/>
          <p:nvPr/>
        </p:nvSpPr>
        <p:spPr>
          <a:xfrm>
            <a:off x="758952" y="3439584"/>
            <a:ext cx="1356238"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avg age</a:t>
            </a:r>
            <a:endParaRPr lang="en-US" sz="560" dirty="0"/>
          </a:p>
        </p:txBody>
      </p:sp>
      <p:sp>
        <p:nvSpPr>
          <p:cNvPr id="24" name="Shape 22"/>
          <p:cNvSpPr/>
          <p:nvPr/>
        </p:nvSpPr>
        <p:spPr>
          <a:xfrm>
            <a:off x="2331720" y="2973240"/>
            <a:ext cx="1506931"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5" name="Text 23"/>
          <p:cNvSpPr/>
          <p:nvPr/>
        </p:nvSpPr>
        <p:spPr>
          <a:xfrm>
            <a:off x="2404872" y="3119544"/>
            <a:ext cx="1356238"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8E5CF3"/>
                </a:solidFill>
              </a:rPr>
              <a:t>10.07</a:t>
            </a:r>
            <a:endParaRPr lang="en-US" sz="1540" dirty="0"/>
          </a:p>
        </p:txBody>
      </p:sp>
      <p:sp>
        <p:nvSpPr>
          <p:cNvPr id="26" name="Text 24"/>
          <p:cNvSpPr/>
          <p:nvPr/>
        </p:nvSpPr>
        <p:spPr>
          <a:xfrm>
            <a:off x="2404872" y="3439584"/>
            <a:ext cx="1356238"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avg sessions</a:t>
            </a:r>
            <a:endParaRPr lang="en-US" sz="560" dirty="0"/>
          </a:p>
        </p:txBody>
      </p:sp>
      <p:sp>
        <p:nvSpPr>
          <p:cNvPr id="27" name="Shape 25"/>
          <p:cNvSpPr/>
          <p:nvPr/>
        </p:nvSpPr>
        <p:spPr>
          <a:xfrm>
            <a:off x="3977640" y="2973240"/>
            <a:ext cx="1506931"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8" name="Text 26"/>
          <p:cNvSpPr/>
          <p:nvPr/>
        </p:nvSpPr>
        <p:spPr>
          <a:xfrm>
            <a:off x="4050792" y="3119544"/>
            <a:ext cx="1356238"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2ECAC6"/>
                </a:solidFill>
              </a:rPr>
              <a:t>20.07</a:t>
            </a:r>
            <a:endParaRPr lang="en-US" sz="1540" dirty="0"/>
          </a:p>
        </p:txBody>
      </p:sp>
      <p:sp>
        <p:nvSpPr>
          <p:cNvPr id="29" name="Text 27"/>
          <p:cNvSpPr/>
          <p:nvPr/>
        </p:nvSpPr>
        <p:spPr>
          <a:xfrm>
            <a:off x="4050792" y="3439584"/>
            <a:ext cx="1356238"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avg session length</a:t>
            </a:r>
            <a:endParaRPr lang="en-US" sz="560" dirty="0"/>
          </a:p>
        </p:txBody>
      </p:sp>
      <p:sp>
        <p:nvSpPr>
          <p:cNvPr id="30" name="Shape 28"/>
          <p:cNvSpPr/>
          <p:nvPr/>
        </p:nvSpPr>
        <p:spPr>
          <a:xfrm>
            <a:off x="5623560" y="2973240"/>
            <a:ext cx="1506931"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1" name="Text 29"/>
          <p:cNvSpPr/>
          <p:nvPr/>
        </p:nvSpPr>
        <p:spPr>
          <a:xfrm>
            <a:off x="5696712" y="3119544"/>
            <a:ext cx="1356238"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F4D34D"/>
                </a:solidFill>
              </a:rPr>
              <a:t>201.96</a:t>
            </a:r>
            <a:endParaRPr lang="en-US" sz="1540" dirty="0"/>
          </a:p>
        </p:txBody>
      </p:sp>
      <p:sp>
        <p:nvSpPr>
          <p:cNvPr id="32" name="Text 30"/>
          <p:cNvSpPr/>
          <p:nvPr/>
        </p:nvSpPr>
        <p:spPr>
          <a:xfrm>
            <a:off x="5696712" y="3439584"/>
            <a:ext cx="1356238"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avg playtime mins</a:t>
            </a:r>
            <a:endParaRPr lang="en-US" sz="560" dirty="0"/>
          </a:p>
        </p:txBody>
      </p:sp>
      <p:sp>
        <p:nvSpPr>
          <p:cNvPr id="33" name="Shape 31"/>
          <p:cNvSpPr/>
          <p:nvPr/>
        </p:nvSpPr>
        <p:spPr>
          <a:xfrm>
            <a:off x="7269480" y="2973240"/>
            <a:ext cx="1506931"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4" name="Text 32"/>
          <p:cNvSpPr/>
          <p:nvPr/>
        </p:nvSpPr>
        <p:spPr>
          <a:xfrm>
            <a:off x="7342632" y="3119544"/>
            <a:ext cx="1356238"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16C79A"/>
                </a:solidFill>
              </a:rPr>
              <a:t>€97.97</a:t>
            </a:r>
            <a:endParaRPr lang="en-US" sz="1540" dirty="0"/>
          </a:p>
        </p:txBody>
      </p:sp>
      <p:sp>
        <p:nvSpPr>
          <p:cNvPr id="35" name="Text 33"/>
          <p:cNvSpPr/>
          <p:nvPr/>
        </p:nvSpPr>
        <p:spPr>
          <a:xfrm>
            <a:off x="7342632" y="3439584"/>
            <a:ext cx="1356238"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avg IAP amount</a:t>
            </a:r>
            <a:endParaRPr lang="en-US" sz="560" dirty="0"/>
          </a:p>
        </p:txBody>
      </p:sp>
      <p:sp>
        <p:nvSpPr>
          <p:cNvPr id="36" name="Shape 34"/>
          <p:cNvSpPr/>
          <p:nvPr/>
        </p:nvSpPr>
        <p:spPr>
          <a:xfrm>
            <a:off x="8915400" y="2973240"/>
            <a:ext cx="1506931"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7" name="Text 35"/>
          <p:cNvSpPr/>
          <p:nvPr/>
        </p:nvSpPr>
        <p:spPr>
          <a:xfrm>
            <a:off x="8988552" y="3119544"/>
            <a:ext cx="1356238"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FF6B6B"/>
                </a:solidFill>
              </a:rPr>
              <a:t>€4,964</a:t>
            </a:r>
            <a:endParaRPr lang="en-US" sz="1540" dirty="0"/>
          </a:p>
        </p:txBody>
      </p:sp>
      <p:sp>
        <p:nvSpPr>
          <p:cNvPr id="38" name="Text 36"/>
          <p:cNvSpPr/>
          <p:nvPr/>
        </p:nvSpPr>
        <p:spPr>
          <a:xfrm>
            <a:off x="8988552" y="3439584"/>
            <a:ext cx="1356238"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max purchase</a:t>
            </a:r>
            <a:endParaRPr lang="en-US" sz="560" dirty="0"/>
          </a:p>
        </p:txBody>
      </p:sp>
      <p:sp>
        <p:nvSpPr>
          <p:cNvPr id="39" name="Shape 37"/>
          <p:cNvSpPr/>
          <p:nvPr/>
        </p:nvSpPr>
        <p:spPr>
          <a:xfrm>
            <a:off x="685800" y="4619160"/>
            <a:ext cx="5132984" cy="839419"/>
          </a:xfrm>
          <a:prstGeom prst="roundRect">
            <a:avLst>
              <a:gd name="adj" fmla="val 588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0" name="Shape 38"/>
          <p:cNvSpPr/>
          <p:nvPr/>
        </p:nvSpPr>
        <p:spPr>
          <a:xfrm>
            <a:off x="685800" y="4619160"/>
            <a:ext cx="75346" cy="839419"/>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1" name="Text 39"/>
          <p:cNvSpPr/>
          <p:nvPr/>
        </p:nvSpPr>
        <p:spPr>
          <a:xfrm>
            <a:off x="850392" y="4765464"/>
            <a:ext cx="485043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EDA reading</a:t>
            </a:r>
            <a:endParaRPr lang="en-US" sz="940" dirty="0"/>
          </a:p>
        </p:txBody>
      </p:sp>
      <p:sp>
        <p:nvSpPr>
          <p:cNvPr id="42" name="Text 40"/>
          <p:cNvSpPr/>
          <p:nvPr/>
        </p:nvSpPr>
        <p:spPr>
          <a:xfrm>
            <a:off x="850392" y="5058072"/>
            <a:ext cx="4850434" cy="26663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The large gap between median purchase (€11.46) and maximum purchase (€4,964.45) indicates a highly skewed spending distribution.</a:t>
            </a:r>
            <a:endParaRPr lang="en-US" sz="740" dirty="0"/>
          </a:p>
        </p:txBody>
      </p:sp>
      <p:sp>
        <p:nvSpPr>
          <p:cNvPr id="43" name="Shape 41"/>
          <p:cNvSpPr/>
          <p:nvPr/>
        </p:nvSpPr>
        <p:spPr>
          <a:xfrm>
            <a:off x="6080760" y="4619160"/>
            <a:ext cx="5132984" cy="839419"/>
          </a:xfrm>
          <a:prstGeom prst="roundRect">
            <a:avLst>
              <a:gd name="adj" fmla="val 588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4" name="Shape 42"/>
          <p:cNvSpPr/>
          <p:nvPr/>
        </p:nvSpPr>
        <p:spPr>
          <a:xfrm>
            <a:off x="6080760" y="4619160"/>
            <a:ext cx="75346" cy="839419"/>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5" name="Text 43"/>
          <p:cNvSpPr/>
          <p:nvPr/>
        </p:nvSpPr>
        <p:spPr>
          <a:xfrm>
            <a:off x="6245352" y="4765464"/>
            <a:ext cx="485043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Conclusion</a:t>
            </a:r>
            <a:endParaRPr lang="en-US" sz="940" dirty="0"/>
          </a:p>
        </p:txBody>
      </p:sp>
      <p:sp>
        <p:nvSpPr>
          <p:cNvPr id="46" name="Text 44"/>
          <p:cNvSpPr/>
          <p:nvPr/>
        </p:nvSpPr>
        <p:spPr>
          <a:xfrm>
            <a:off x="6245352" y="5058072"/>
            <a:ext cx="4850434" cy="26663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Average metrics are useful, but segmentation is necessary because a small group of users can strongly influence total revenue.</a:t>
            </a:r>
            <a:endParaRPr lang="en-US" sz="7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EDA Findings Summary</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Key analytical patterns from the report before moving to Power BI</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5</a:t>
            </a:r>
            <a:endParaRPr lang="en-US" sz="580" dirty="0"/>
          </a:p>
        </p:txBody>
      </p:sp>
      <p:sp>
        <p:nvSpPr>
          <p:cNvPr id="9" name="Shape 7"/>
          <p:cNvSpPr/>
          <p:nvPr/>
        </p:nvSpPr>
        <p:spPr>
          <a:xfrm>
            <a:off x="640080" y="961560"/>
            <a:ext cx="1883664" cy="276514"/>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0" name="Text 8"/>
          <p:cNvSpPr/>
          <p:nvPr/>
        </p:nvSpPr>
        <p:spPr>
          <a:xfrm>
            <a:off x="713232" y="1016424"/>
            <a:ext cx="1732970"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Demographics</a:t>
            </a:r>
            <a:endParaRPr lang="en-US" sz="680" dirty="0"/>
          </a:p>
        </p:txBody>
      </p:sp>
      <p:sp>
        <p:nvSpPr>
          <p:cNvPr id="11" name="Text 9"/>
          <p:cNvSpPr/>
          <p:nvPr/>
        </p:nvSpPr>
        <p:spPr>
          <a:xfrm>
            <a:off x="731520" y="1391328"/>
            <a:ext cx="3013862" cy="98755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 Male players represent about 60% of all players.</a:t>
            </a:r>
            <a:endParaRPr lang="en-US" sz="740" dirty="0"/>
          </a:p>
          <a:p>
            <a:pPr indent="0" marL="0">
              <a:lnSpc>
                <a:spcPct val="100000"/>
              </a:lnSpc>
              <a:spcBef>
                <a:spcPts val="0"/>
              </a:spcBef>
              <a:spcAft>
                <a:spcPts val="0"/>
              </a:spcAft>
              <a:buNone/>
            </a:pPr>
            <a:r>
              <a:rPr lang="en-US" sz="1250" dirty="0">
                <a:solidFill>
                  <a:srgbClr val="B9C9D8"/>
                </a:solidFill>
              </a:rPr>
              <a:t>• India has the largest player count; other markets are geographically diverse.</a:t>
            </a:r>
            <a:endParaRPr lang="en-US" sz="740" dirty="0"/>
          </a:p>
          <a:p>
            <a:pPr indent="0" marL="0">
              <a:lnSpc>
                <a:spcPct val="100000"/>
              </a:lnSpc>
              <a:spcBef>
                <a:spcPts val="0"/>
              </a:spcBef>
              <a:spcAft>
                <a:spcPts val="0"/>
              </a:spcAft>
              <a:buNone/>
            </a:pPr>
            <a:r>
              <a:rPr lang="en-US" sz="1250" dirty="0">
                <a:solidFill>
                  <a:srgbClr val="B9C9D8"/>
                </a:solidFill>
              </a:rPr>
              <a:t>• Android is the leading platform at about 59%.</a:t>
            </a:r>
            <a:endParaRPr lang="en-US" sz="740" dirty="0"/>
          </a:p>
        </p:txBody>
      </p:sp>
      <p:sp>
        <p:nvSpPr>
          <p:cNvPr id="12" name="Shape 10"/>
          <p:cNvSpPr/>
          <p:nvPr/>
        </p:nvSpPr>
        <p:spPr>
          <a:xfrm>
            <a:off x="3840480" y="961560"/>
            <a:ext cx="1883664" cy="276514"/>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3" name="Text 11"/>
          <p:cNvSpPr/>
          <p:nvPr/>
        </p:nvSpPr>
        <p:spPr>
          <a:xfrm>
            <a:off x="3913632" y="1016424"/>
            <a:ext cx="1732970"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Spending</a:t>
            </a:r>
            <a:endParaRPr lang="en-US" sz="680" dirty="0"/>
          </a:p>
        </p:txBody>
      </p:sp>
      <p:sp>
        <p:nvSpPr>
          <p:cNvPr id="14" name="Text 12"/>
          <p:cNvSpPr/>
          <p:nvPr/>
        </p:nvSpPr>
        <p:spPr>
          <a:xfrm>
            <a:off x="3931920" y="1391328"/>
            <a:ext cx="3013862" cy="98755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 Total revenue reached about €296.3K.</a:t>
            </a:r>
            <a:endParaRPr lang="en-US" sz="740" dirty="0"/>
          </a:p>
          <a:p>
            <a:pPr indent="0" marL="0">
              <a:lnSpc>
                <a:spcPct val="100000"/>
              </a:lnSpc>
              <a:spcBef>
                <a:spcPts val="0"/>
              </a:spcBef>
              <a:spcAft>
                <a:spcPts val="0"/>
              </a:spcAft>
              <a:buNone/>
            </a:pPr>
            <a:r>
              <a:rPr lang="en-US" sz="1250" dirty="0">
                <a:solidFill>
                  <a:srgbClr val="B9C9D8"/>
                </a:solidFill>
              </a:rPr>
              <a:t>• Minnows are the largest group, but Whales are strategically important.</a:t>
            </a:r>
            <a:endParaRPr lang="en-US" sz="740" dirty="0"/>
          </a:p>
          <a:p>
            <a:pPr indent="0" marL="0">
              <a:lnSpc>
                <a:spcPct val="100000"/>
              </a:lnSpc>
              <a:spcBef>
                <a:spcPts val="0"/>
              </a:spcBef>
              <a:spcAft>
                <a:spcPts val="0"/>
              </a:spcAft>
              <a:buNone/>
            </a:pPr>
            <a:r>
              <a:rPr lang="en-US" sz="1250" dirty="0">
                <a:solidFill>
                  <a:srgbClr val="B9C9D8"/>
                </a:solidFill>
              </a:rPr>
              <a:t>• Purchaser conversion is about 95.5%.</a:t>
            </a:r>
            <a:endParaRPr lang="en-US" sz="740" dirty="0"/>
          </a:p>
        </p:txBody>
      </p:sp>
      <p:sp>
        <p:nvSpPr>
          <p:cNvPr id="15" name="Shape 13"/>
          <p:cNvSpPr/>
          <p:nvPr/>
        </p:nvSpPr>
        <p:spPr>
          <a:xfrm>
            <a:off x="7040880" y="961560"/>
            <a:ext cx="1883664" cy="276514"/>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6" name="Text 14"/>
          <p:cNvSpPr/>
          <p:nvPr/>
        </p:nvSpPr>
        <p:spPr>
          <a:xfrm>
            <a:off x="7114032" y="1016424"/>
            <a:ext cx="1732970"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Engagement</a:t>
            </a:r>
            <a:endParaRPr lang="en-US" sz="680" dirty="0"/>
          </a:p>
        </p:txBody>
      </p:sp>
      <p:sp>
        <p:nvSpPr>
          <p:cNvPr id="17" name="Text 15"/>
          <p:cNvSpPr/>
          <p:nvPr/>
        </p:nvSpPr>
        <p:spPr>
          <a:xfrm>
            <a:off x="7132320" y="1391328"/>
            <a:ext cx="3108045" cy="98755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 Session length strongly correlates with playtime.</a:t>
            </a:r>
            <a:endParaRPr lang="en-US" sz="740" dirty="0"/>
          </a:p>
          <a:p>
            <a:pPr indent="0" marL="0">
              <a:lnSpc>
                <a:spcPct val="100000"/>
              </a:lnSpc>
              <a:spcBef>
                <a:spcPts val="0"/>
              </a:spcBef>
              <a:spcAft>
                <a:spcPts val="0"/>
              </a:spcAft>
              <a:buNone/>
            </a:pPr>
            <a:r>
              <a:rPr lang="en-US" sz="1250" dirty="0">
                <a:solidFill>
                  <a:srgbClr val="B9C9D8"/>
                </a:solidFill>
              </a:rPr>
              <a:t>• Purchase amount has almost no correlation with playtime or session count.</a:t>
            </a:r>
            <a:endParaRPr lang="en-US" sz="740" dirty="0"/>
          </a:p>
          <a:p>
            <a:pPr indent="0" marL="0">
              <a:lnSpc>
                <a:spcPct val="100000"/>
              </a:lnSpc>
              <a:spcBef>
                <a:spcPts val="0"/>
              </a:spcBef>
              <a:spcAft>
                <a:spcPts val="0"/>
              </a:spcAft>
              <a:buNone/>
            </a:pPr>
            <a:r>
              <a:rPr lang="en-US" sz="1250" dirty="0">
                <a:solidFill>
                  <a:srgbClr val="B9C9D8"/>
                </a:solidFill>
              </a:rPr>
              <a:t>• High spenders are not always the most active players.</a:t>
            </a:r>
            <a:endParaRPr lang="en-US" sz="740" dirty="0"/>
          </a:p>
        </p:txBody>
      </p:sp>
      <p:sp>
        <p:nvSpPr>
          <p:cNvPr id="18" name="Shape 16"/>
          <p:cNvSpPr/>
          <p:nvPr/>
        </p:nvSpPr>
        <p:spPr>
          <a:xfrm>
            <a:off x="640080" y="3339000"/>
            <a:ext cx="1883664" cy="276514"/>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19" name="Text 17"/>
          <p:cNvSpPr/>
          <p:nvPr/>
        </p:nvSpPr>
        <p:spPr>
          <a:xfrm>
            <a:off x="713232" y="3393864"/>
            <a:ext cx="1732970"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Business insight</a:t>
            </a:r>
            <a:endParaRPr lang="en-US" sz="680" dirty="0"/>
          </a:p>
        </p:txBody>
      </p:sp>
      <p:sp>
        <p:nvSpPr>
          <p:cNvPr id="20" name="Text 18"/>
          <p:cNvSpPr/>
          <p:nvPr/>
        </p:nvSpPr>
        <p:spPr>
          <a:xfrm>
            <a:off x="731520" y="3750480"/>
            <a:ext cx="10171785" cy="69128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b="1" dirty="0">
                <a:solidFill>
                  <a:srgbClr val="FFFFFF"/>
                </a:solidFill>
              </a:rPr>
              <a:t>The final story should not simply describe charts. It should explain why the pattern matters: who spends, where revenue comes from, which platforms and payment methods matter, and how these findings should guide monetization strategy.</a:t>
            </a:r>
            <a:endParaRPr lang="en-US" sz="950" dirty="0"/>
          </a:p>
        </p:txBody>
      </p:sp>
      <p:sp>
        <p:nvSpPr>
          <p:cNvPr id="21" name="Shape 19"/>
          <p:cNvSpPr/>
          <p:nvPr/>
        </p:nvSpPr>
        <p:spPr>
          <a:xfrm>
            <a:off x="731520" y="4774608"/>
            <a:ext cx="10548518" cy="0"/>
          </a:xfrm>
          <a:prstGeom prst="line">
            <a:avLst/>
          </a:prstGeom>
          <a:noFill/>
          <a:ln w="27940">
            <a:solidFill>
              <a:srgbClr val="F4D34D"/>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2" name="Text 20"/>
          <p:cNvSpPr/>
          <p:nvPr/>
        </p:nvSpPr>
        <p:spPr>
          <a:xfrm>
            <a:off x="731520" y="5076360"/>
            <a:ext cx="10077602" cy="29626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400" b="1" dirty="0">
                <a:solidFill>
                  <a:srgbClr val="2ECAC6"/>
                </a:solidFill>
              </a:rPr>
              <a:t>Presenter instruction: for every EDA or Power BI visual, state Insight → Evidence → Conclusion.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Power BI Executive Summary</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KPI overview: players, conversion, purchase amount, device, gender, and geography</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6</a:t>
            </a:r>
            <a:endParaRPr lang="en-US" sz="580" dirty="0"/>
          </a:p>
        </p:txBody>
      </p:sp>
      <p:sp>
        <p:nvSpPr>
          <p:cNvPr id="9" name="Shape 7"/>
          <p:cNvSpPr/>
          <p:nvPr/>
        </p:nvSpPr>
        <p:spPr>
          <a:xfrm>
            <a:off x="640080" y="1007280"/>
            <a:ext cx="6592824" cy="4480560"/>
          </a:xfrm>
          <a:prstGeom prst="roundRect">
            <a:avLst>
              <a:gd name="adj" fmla="val 1020"/>
            </a:avLst>
          </a:prstGeom>
          <a:solidFill>
            <a:srgbClr val="0E253E"/>
          </a:solidFill>
          <a:ln w="12700">
            <a:solidFill>
              <a:srgbClr val="24405F"/>
            </a:solidFill>
            <a:prstDash val="solid"/>
          </a:ln>
          <a:effectLst>
            <a:outerShdw sx="100000" sy="100000" kx="0" ky="0" algn="bl" rotWithShape="0" blurRad="15240" dist="12700" dir="2700000">
              <a:srgbClr val="000000">
                <a:alpha val="22000"/>
              </a:srgbClr>
            </a:outerShdw>
          </a:effectLst>
        </p:spPr>
        <p:txBody>
          <a:bodyPr lIns="27432" rIns="27432" tIns="18288" bIns="18288" wrap="square" anchor="t">
            <a:noAutofit/>
          </a:bodyPr>
          <a:p>
            <a:pPr>
              <a:lnSpc>
                <a:spcPct val="100000"/>
              </a:lnSpc>
              <a:spcBef>
                <a:spcPts val="0"/>
              </a:spcBef>
              <a:spcAft>
                <a:spcPts val="0"/>
              </a:spcAft>
              <a:defRPr sz="1250"/>
            </a:pPr>
          </a:p>
        </p:txBody>
      </p:sp>
      <p:pic>
        <p:nvPicPr>
          <p:cNvPr id="10" name="Image 0" descr="/mnt/data/PNG图像_cropped.png">    </p:cNvPr>
          <p:cNvPicPr>
            <a:picLocks noChangeAspect="1"/>
          </p:cNvPicPr>
          <p:nvPr/>
        </p:nvPicPr>
        <p:blipFill>
          <a:blip r:embed="rId1"/>
          <a:stretch>
            <a:fillRect/>
          </a:stretch>
        </p:blipFill>
        <p:spPr>
          <a:xfrm>
            <a:off x="633680" y="1450107"/>
            <a:ext cx="6413601" cy="3585762"/>
          </a:xfrm>
          <a:prstGeom prst="rect">
            <a:avLst/>
          </a:prstGeom>
        </p:spPr>
      </p:pic>
      <p:sp>
        <p:nvSpPr>
          <p:cNvPr id="11" name="Text 8"/>
          <p:cNvSpPr/>
          <p:nvPr/>
        </p:nvSpPr>
        <p:spPr>
          <a:xfrm>
            <a:off x="7498080" y="988992"/>
            <a:ext cx="3296412" cy="23701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What to explain</a:t>
            </a:r>
            <a:endParaRPr lang="en-US" sz="1150" dirty="0"/>
          </a:p>
        </p:txBody>
      </p:sp>
      <p:sp>
        <p:nvSpPr>
          <p:cNvPr id="12" name="Shape 9"/>
          <p:cNvSpPr/>
          <p:nvPr/>
        </p:nvSpPr>
        <p:spPr>
          <a:xfrm>
            <a:off x="7452360" y="1418760"/>
            <a:ext cx="3908602" cy="9678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3" name="Shape 10"/>
          <p:cNvSpPr/>
          <p:nvPr/>
        </p:nvSpPr>
        <p:spPr>
          <a:xfrm>
            <a:off x="7452360" y="1418760"/>
            <a:ext cx="75346" cy="967800"/>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Text 11"/>
          <p:cNvSpPr/>
          <p:nvPr/>
        </p:nvSpPr>
        <p:spPr>
          <a:xfrm>
            <a:off x="7616952" y="1565064"/>
            <a:ext cx="3626053"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High monetization baseline</a:t>
            </a:r>
            <a:endParaRPr lang="en-US" sz="940" dirty="0"/>
          </a:p>
        </p:txBody>
      </p:sp>
      <p:sp>
        <p:nvSpPr>
          <p:cNvPr id="15" name="Text 12"/>
          <p:cNvSpPr/>
          <p:nvPr/>
        </p:nvSpPr>
        <p:spPr>
          <a:xfrm>
            <a:off x="7616952" y="1857672"/>
            <a:ext cx="3626053" cy="39502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The dashboard shows 3,024 players, 2,887 paying players, and a 95.47% paying-player rate.</a:t>
            </a:r>
            <a:endParaRPr lang="en-US" sz="740" dirty="0"/>
          </a:p>
        </p:txBody>
      </p:sp>
      <p:sp>
        <p:nvSpPr>
          <p:cNvPr id="16" name="Shape 13"/>
          <p:cNvSpPr/>
          <p:nvPr/>
        </p:nvSpPr>
        <p:spPr>
          <a:xfrm>
            <a:off x="7452360" y="2580048"/>
            <a:ext cx="3908602" cy="9678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7" name="Shape 14"/>
          <p:cNvSpPr/>
          <p:nvPr/>
        </p:nvSpPr>
        <p:spPr>
          <a:xfrm>
            <a:off x="7452360" y="2580048"/>
            <a:ext cx="75346" cy="967800"/>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Text 15"/>
          <p:cNvSpPr/>
          <p:nvPr/>
        </p:nvSpPr>
        <p:spPr>
          <a:xfrm>
            <a:off x="7616952" y="2726352"/>
            <a:ext cx="3626053"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Revenue concentration by region</a:t>
            </a:r>
            <a:endParaRPr lang="en-US" sz="940" dirty="0"/>
          </a:p>
        </p:txBody>
      </p:sp>
      <p:sp>
        <p:nvSpPr>
          <p:cNvPr id="19" name="Text 16"/>
          <p:cNvSpPr/>
          <p:nvPr/>
        </p:nvSpPr>
        <p:spPr>
          <a:xfrm>
            <a:off x="7616952" y="3018960"/>
            <a:ext cx="3626053" cy="39502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Asia and Europe lead revenue, so localization and campaign focus should start there.</a:t>
            </a:r>
            <a:endParaRPr lang="en-US" sz="740" dirty="0"/>
          </a:p>
        </p:txBody>
      </p:sp>
      <p:sp>
        <p:nvSpPr>
          <p:cNvPr id="20" name="Shape 17"/>
          <p:cNvSpPr/>
          <p:nvPr/>
        </p:nvSpPr>
        <p:spPr>
          <a:xfrm>
            <a:off x="7452360" y="3741336"/>
            <a:ext cx="3908602" cy="9678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1" name="Shape 18"/>
          <p:cNvSpPr/>
          <p:nvPr/>
        </p:nvSpPr>
        <p:spPr>
          <a:xfrm>
            <a:off x="7452360" y="3741336"/>
            <a:ext cx="75346" cy="967800"/>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Text 19"/>
          <p:cNvSpPr/>
          <p:nvPr/>
        </p:nvSpPr>
        <p:spPr>
          <a:xfrm>
            <a:off x="7616952" y="3887640"/>
            <a:ext cx="3626053"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Device mix matters</a:t>
            </a:r>
            <a:endParaRPr lang="en-US" sz="940" dirty="0"/>
          </a:p>
        </p:txBody>
      </p:sp>
      <p:sp>
        <p:nvSpPr>
          <p:cNvPr id="23" name="Text 20"/>
          <p:cNvSpPr/>
          <p:nvPr/>
        </p:nvSpPr>
        <p:spPr>
          <a:xfrm>
            <a:off x="7616952" y="4180248"/>
            <a:ext cx="3626053" cy="39502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Android contributes the larger device share, while iOS remains a strong secondary platform.</a:t>
            </a:r>
            <a:endParaRPr lang="en-US" sz="7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Executive Insights from PBI Visuals</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Translate the dashboard into business meaning</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7</a:t>
            </a:r>
            <a:endParaRPr lang="en-US" sz="580" dirty="0"/>
          </a:p>
        </p:txBody>
      </p:sp>
      <p:sp>
        <p:nvSpPr>
          <p:cNvPr id="9" name="Shape 7"/>
          <p:cNvSpPr/>
          <p:nvPr/>
        </p:nvSpPr>
        <p:spPr>
          <a:xfrm>
            <a:off x="822960" y="1053000"/>
            <a:ext cx="1554022"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Text 8"/>
          <p:cNvSpPr/>
          <p:nvPr/>
        </p:nvSpPr>
        <p:spPr>
          <a:xfrm>
            <a:off x="896112" y="1199304"/>
            <a:ext cx="1403329"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16C79A"/>
                </a:solidFill>
              </a:rPr>
              <a:t>95.47%</a:t>
            </a:r>
            <a:endParaRPr lang="en-US" sz="1540" dirty="0"/>
          </a:p>
        </p:txBody>
      </p:sp>
      <p:sp>
        <p:nvSpPr>
          <p:cNvPr id="11" name="Text 9"/>
          <p:cNvSpPr/>
          <p:nvPr/>
        </p:nvSpPr>
        <p:spPr>
          <a:xfrm>
            <a:off x="896112" y="1519344"/>
            <a:ext cx="1403329"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conversion rate</a:t>
            </a:r>
            <a:endParaRPr lang="en-US" sz="560" dirty="0"/>
          </a:p>
        </p:txBody>
      </p:sp>
      <p:sp>
        <p:nvSpPr>
          <p:cNvPr id="12" name="Shape 10"/>
          <p:cNvSpPr/>
          <p:nvPr/>
        </p:nvSpPr>
        <p:spPr>
          <a:xfrm>
            <a:off x="2651760" y="1053000"/>
            <a:ext cx="1554022"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3" name="Text 11"/>
          <p:cNvSpPr/>
          <p:nvPr/>
        </p:nvSpPr>
        <p:spPr>
          <a:xfrm>
            <a:off x="2724912" y="1199304"/>
            <a:ext cx="1403329"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FF6B6B"/>
                </a:solidFill>
              </a:rPr>
              <a:t>€296.3K</a:t>
            </a:r>
            <a:endParaRPr lang="en-US" sz="1540" dirty="0"/>
          </a:p>
        </p:txBody>
      </p:sp>
      <p:sp>
        <p:nvSpPr>
          <p:cNvPr id="14" name="Text 12"/>
          <p:cNvSpPr/>
          <p:nvPr/>
        </p:nvSpPr>
        <p:spPr>
          <a:xfrm>
            <a:off x="2724912" y="1519344"/>
            <a:ext cx="1403329"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total purchase value</a:t>
            </a:r>
            <a:endParaRPr lang="en-US" sz="560" dirty="0"/>
          </a:p>
        </p:txBody>
      </p:sp>
      <p:sp>
        <p:nvSpPr>
          <p:cNvPr id="15" name="Shape 13"/>
          <p:cNvSpPr/>
          <p:nvPr/>
        </p:nvSpPr>
        <p:spPr>
          <a:xfrm>
            <a:off x="4480560" y="1053000"/>
            <a:ext cx="1554022"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6" name="Text 14"/>
          <p:cNvSpPr/>
          <p:nvPr/>
        </p:nvSpPr>
        <p:spPr>
          <a:xfrm>
            <a:off x="4553712" y="1199304"/>
            <a:ext cx="1403329"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2F80ED"/>
                </a:solidFill>
              </a:rPr>
              <a:t>53.24%</a:t>
            </a:r>
            <a:endParaRPr lang="en-US" sz="1540" dirty="0"/>
          </a:p>
        </p:txBody>
      </p:sp>
      <p:sp>
        <p:nvSpPr>
          <p:cNvPr id="17" name="Text 15"/>
          <p:cNvSpPr/>
          <p:nvPr/>
        </p:nvSpPr>
        <p:spPr>
          <a:xfrm>
            <a:off x="4553712" y="1519344"/>
            <a:ext cx="1403329"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Android purchase share</a:t>
            </a:r>
            <a:endParaRPr lang="en-US" sz="560" dirty="0"/>
          </a:p>
        </p:txBody>
      </p:sp>
      <p:sp>
        <p:nvSpPr>
          <p:cNvPr id="18" name="Shape 16"/>
          <p:cNvSpPr/>
          <p:nvPr/>
        </p:nvSpPr>
        <p:spPr>
          <a:xfrm>
            <a:off x="6309360" y="1053000"/>
            <a:ext cx="1554022"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9" name="Text 17"/>
          <p:cNvSpPr/>
          <p:nvPr/>
        </p:nvSpPr>
        <p:spPr>
          <a:xfrm>
            <a:off x="6382512" y="1199304"/>
            <a:ext cx="1403329"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200" b="1" dirty="0">
                <a:solidFill>
                  <a:srgbClr val="F4D34D"/>
                </a:solidFill>
              </a:rPr>
              <a:t>~100K+</a:t>
            </a:r>
            <a:endParaRPr lang="en-US" sz="1540" dirty="0"/>
          </a:p>
        </p:txBody>
      </p:sp>
      <p:sp>
        <p:nvSpPr>
          <p:cNvPr id="20" name="Text 18"/>
          <p:cNvSpPr/>
          <p:nvPr/>
        </p:nvSpPr>
        <p:spPr>
          <a:xfrm>
            <a:off x="6382512" y="1519344"/>
            <a:ext cx="1403329"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Europe revenue</a:t>
            </a:r>
            <a:endParaRPr lang="en-US" sz="560" dirty="0"/>
          </a:p>
        </p:txBody>
      </p:sp>
      <p:sp>
        <p:nvSpPr>
          <p:cNvPr id="21" name="Shape 19"/>
          <p:cNvSpPr/>
          <p:nvPr/>
        </p:nvSpPr>
        <p:spPr>
          <a:xfrm>
            <a:off x="8138160" y="1053000"/>
            <a:ext cx="1554022"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Text 20"/>
          <p:cNvSpPr/>
          <p:nvPr/>
        </p:nvSpPr>
        <p:spPr>
          <a:xfrm>
            <a:off x="8211312" y="1199304"/>
            <a:ext cx="1403329"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200" b="1" dirty="0">
                <a:solidFill>
                  <a:srgbClr val="2ECAC6"/>
                </a:solidFill>
              </a:rPr>
              <a:t>~130K+</a:t>
            </a:r>
            <a:endParaRPr lang="en-US" sz="1540" dirty="0"/>
          </a:p>
        </p:txBody>
      </p:sp>
      <p:sp>
        <p:nvSpPr>
          <p:cNvPr id="23" name="Text 21"/>
          <p:cNvSpPr/>
          <p:nvPr/>
        </p:nvSpPr>
        <p:spPr>
          <a:xfrm>
            <a:off x="8211312" y="1519344"/>
            <a:ext cx="1403329"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Asia revenue</a:t>
            </a:r>
            <a:endParaRPr lang="en-US" sz="560" dirty="0"/>
          </a:p>
        </p:txBody>
      </p:sp>
      <p:sp>
        <p:nvSpPr>
          <p:cNvPr id="24" name="Shape 22"/>
          <p:cNvSpPr/>
          <p:nvPr/>
        </p:nvSpPr>
        <p:spPr>
          <a:xfrm>
            <a:off x="868680" y="2653200"/>
            <a:ext cx="3202228" cy="1234440"/>
          </a:xfrm>
          <a:prstGeom prst="roundRect">
            <a:avLst>
              <a:gd name="adj" fmla="val 4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5" name="Shape 23"/>
          <p:cNvSpPr/>
          <p:nvPr/>
        </p:nvSpPr>
        <p:spPr>
          <a:xfrm>
            <a:off x="868680" y="2653200"/>
            <a:ext cx="75346" cy="1234440"/>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6" name="Text 24"/>
          <p:cNvSpPr/>
          <p:nvPr/>
        </p:nvSpPr>
        <p:spPr>
          <a:xfrm>
            <a:off x="1033272" y="2799504"/>
            <a:ext cx="2919679"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Insight 1: Strong conversion</a:t>
            </a:r>
            <a:endParaRPr lang="en-US" sz="940" dirty="0"/>
          </a:p>
        </p:txBody>
      </p:sp>
      <p:sp>
        <p:nvSpPr>
          <p:cNvPr id="27" name="Text 25"/>
          <p:cNvSpPr/>
          <p:nvPr/>
        </p:nvSpPr>
        <p:spPr>
          <a:xfrm>
            <a:off x="1033272" y="3092112"/>
            <a:ext cx="2919679" cy="6616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 very high paying-player rate means the project should focus on maximizing value among existing payers, not only converting non-payers.</a:t>
            </a:r>
            <a:endParaRPr lang="en-US" sz="740" dirty="0"/>
          </a:p>
        </p:txBody>
      </p:sp>
      <p:sp>
        <p:nvSpPr>
          <p:cNvPr id="28" name="Shape 26"/>
          <p:cNvSpPr/>
          <p:nvPr/>
        </p:nvSpPr>
        <p:spPr>
          <a:xfrm>
            <a:off x="4434840" y="2653200"/>
            <a:ext cx="3202228" cy="1234440"/>
          </a:xfrm>
          <a:prstGeom prst="roundRect">
            <a:avLst>
              <a:gd name="adj" fmla="val 4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9" name="Shape 27"/>
          <p:cNvSpPr/>
          <p:nvPr/>
        </p:nvSpPr>
        <p:spPr>
          <a:xfrm>
            <a:off x="4434840" y="2653200"/>
            <a:ext cx="75346" cy="1234440"/>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0" name="Text 28"/>
          <p:cNvSpPr/>
          <p:nvPr/>
        </p:nvSpPr>
        <p:spPr>
          <a:xfrm>
            <a:off x="4599432" y="2799504"/>
            <a:ext cx="2919679"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Insight 2: Regional focus</a:t>
            </a:r>
            <a:endParaRPr lang="en-US" sz="940" dirty="0"/>
          </a:p>
        </p:txBody>
      </p:sp>
      <p:sp>
        <p:nvSpPr>
          <p:cNvPr id="31" name="Text 29"/>
          <p:cNvSpPr/>
          <p:nvPr/>
        </p:nvSpPr>
        <p:spPr>
          <a:xfrm>
            <a:off x="4599432" y="3092112"/>
            <a:ext cx="2919679" cy="6616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Asia and Europe should receive priority in localized campaigns, pricing tests, and regional event design.</a:t>
            </a:r>
            <a:endParaRPr lang="en-US" sz="740" dirty="0"/>
          </a:p>
        </p:txBody>
      </p:sp>
      <p:sp>
        <p:nvSpPr>
          <p:cNvPr id="32" name="Shape 30"/>
          <p:cNvSpPr/>
          <p:nvPr/>
        </p:nvSpPr>
        <p:spPr>
          <a:xfrm>
            <a:off x="8001000" y="2653200"/>
            <a:ext cx="3202228" cy="1234440"/>
          </a:xfrm>
          <a:prstGeom prst="roundRect">
            <a:avLst>
              <a:gd name="adj" fmla="val 4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3" name="Shape 31"/>
          <p:cNvSpPr/>
          <p:nvPr/>
        </p:nvSpPr>
        <p:spPr>
          <a:xfrm>
            <a:off x="8001000" y="2653200"/>
            <a:ext cx="75346" cy="1234440"/>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4" name="Text 32"/>
          <p:cNvSpPr/>
          <p:nvPr/>
        </p:nvSpPr>
        <p:spPr>
          <a:xfrm>
            <a:off x="8165592" y="2799504"/>
            <a:ext cx="2919679"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Insight 3: Platform balance</a:t>
            </a:r>
            <a:endParaRPr lang="en-US" sz="940" dirty="0"/>
          </a:p>
        </p:txBody>
      </p:sp>
      <p:sp>
        <p:nvSpPr>
          <p:cNvPr id="35" name="Text 33"/>
          <p:cNvSpPr/>
          <p:nvPr/>
        </p:nvSpPr>
        <p:spPr>
          <a:xfrm>
            <a:off x="8165592" y="3092112"/>
            <a:ext cx="2919679" cy="6616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Android should remain the main optimization priority, while iOS users still represent a valuable monetization base.</a:t>
            </a:r>
            <a:endParaRPr lang="en-US" sz="740" dirty="0"/>
          </a:p>
        </p:txBody>
      </p:sp>
      <p:sp>
        <p:nvSpPr>
          <p:cNvPr id="36" name="Shape 34"/>
          <p:cNvSpPr/>
          <p:nvPr/>
        </p:nvSpPr>
        <p:spPr>
          <a:xfrm>
            <a:off x="1371600" y="4847760"/>
            <a:ext cx="9606686" cy="839419"/>
          </a:xfrm>
          <a:prstGeom prst="roundRect">
            <a:avLst>
              <a:gd name="adj" fmla="val 588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7" name="Shape 35"/>
          <p:cNvSpPr/>
          <p:nvPr/>
        </p:nvSpPr>
        <p:spPr>
          <a:xfrm>
            <a:off x="1371600" y="4847760"/>
            <a:ext cx="75346" cy="839419"/>
          </a:xfrm>
          <a:prstGeom prst="rect">
            <a:avLst/>
          </a:prstGeom>
          <a:solidFill>
            <a:srgbClr val="FF6B6B"/>
          </a:solidFill>
          <a:ln w="12700">
            <a:solidFill>
              <a:srgbClr val="FF6B6B">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8" name="Text 36"/>
          <p:cNvSpPr/>
          <p:nvPr/>
        </p:nvSpPr>
        <p:spPr>
          <a:xfrm>
            <a:off x="1536192" y="4994064"/>
            <a:ext cx="9324136"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Business conclusion</a:t>
            </a:r>
            <a:endParaRPr lang="en-US" sz="940" dirty="0"/>
          </a:p>
        </p:txBody>
      </p:sp>
      <p:sp>
        <p:nvSpPr>
          <p:cNvPr id="39" name="Text 37"/>
          <p:cNvSpPr/>
          <p:nvPr/>
        </p:nvSpPr>
        <p:spPr>
          <a:xfrm>
            <a:off x="1536192" y="5286672"/>
            <a:ext cx="9324136" cy="26663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400" dirty="0">
                <a:solidFill>
                  <a:srgbClr val="B9C9D8"/>
                </a:solidFill>
              </a:rPr>
              <a:t>The dashboard points to strong monetization performance. Growth should come from segment targeting, payment optimization, and market-specific offers rather than generic acquisition alone.</a:t>
            </a:r>
            <a:endParaRPr lang="en-US" sz="7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txBody>
          <a:bodyPr/>
          <a:p/>
        </p:txBody>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Power BI Player Segmentation</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Revenue concentration by Minnow, Dolphin, and Whale segments</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8</a:t>
            </a:r>
            <a:endParaRPr lang="en-US" sz="580" dirty="0"/>
          </a:p>
        </p:txBody>
      </p:sp>
      <p:sp>
        <p:nvSpPr>
          <p:cNvPr id="9" name="Shape 7"/>
          <p:cNvSpPr/>
          <p:nvPr/>
        </p:nvSpPr>
        <p:spPr>
          <a:xfrm>
            <a:off x="640080" y="1007280"/>
            <a:ext cx="6592824" cy="4480560"/>
          </a:xfrm>
          <a:prstGeom prst="roundRect">
            <a:avLst>
              <a:gd name="adj" fmla="val 1020"/>
            </a:avLst>
          </a:prstGeom>
          <a:solidFill>
            <a:srgbClr val="0E253E"/>
          </a:solidFill>
          <a:ln w="12700">
            <a:solidFill>
              <a:srgbClr val="24405F"/>
            </a:solidFill>
            <a:prstDash val="solid"/>
          </a:ln>
          <a:effectLst>
            <a:outerShdw sx="100000" sy="100000" kx="0" ky="0" algn="bl" rotWithShape="0" blurRad="15240" dist="12700" dir="2700000">
              <a:srgbClr val="000000">
                <a:alpha val="22000"/>
              </a:srgbClr>
            </a:outerShdw>
          </a:effectLst>
        </p:spPr>
        <p:txBody>
          <a:bodyPr lIns="27432" rIns="27432" tIns="18288" bIns="18288" wrap="square" anchor="t">
            <a:noAutofit/>
          </a:bodyPr>
          <a:p>
            <a:pPr>
              <a:lnSpc>
                <a:spcPct val="100000"/>
              </a:lnSpc>
              <a:spcBef>
                <a:spcPts val="0"/>
              </a:spcBef>
              <a:spcAft>
                <a:spcPts val="0"/>
              </a:spcAft>
              <a:defRPr sz="1250"/>
            </a:pPr>
          </a:p>
        </p:txBody>
      </p:sp>
      <p:pic>
        <p:nvPicPr>
          <p:cNvPr id="10" name="Image 0" descr="/mnt/data/PNG图像 2_cropped.png">    </p:cNvPr>
          <p:cNvPicPr>
            <a:picLocks noChangeAspect="1"/>
          </p:cNvPicPr>
          <p:nvPr/>
        </p:nvPicPr>
        <p:blipFill>
          <a:blip r:embed="rId1"/>
          <a:stretch>
            <a:fillRect/>
          </a:stretch>
        </p:blipFill>
        <p:spPr>
          <a:xfrm>
            <a:off x="720000" y="1500000"/>
            <a:ext cx="6400000" cy="3550000"/>
          </a:xfrm>
          <a:prstGeom prst="rect">
            <a:avLst/>
          </a:prstGeom>
        </p:spPr>
      </p:pic>
      <p:sp>
        <p:nvSpPr>
          <p:cNvPr id="11" name="Text 8"/>
          <p:cNvSpPr/>
          <p:nvPr/>
        </p:nvSpPr>
        <p:spPr>
          <a:xfrm>
            <a:off x="7498080" y="1030000"/>
            <a:ext cx="3296412" cy="2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What to explain</a:t>
            </a:r>
            <a:endParaRPr lang="en-US" sz="1150" dirty="0"/>
          </a:p>
        </p:txBody>
      </p:sp>
      <p:sp>
        <p:nvSpPr>
          <p:cNvPr id="12" name="Shape 9"/>
          <p:cNvSpPr/>
          <p:nvPr/>
        </p:nvSpPr>
        <p:spPr>
          <a:xfrm>
            <a:off x="7452360" y="1418760"/>
            <a:ext cx="3908602" cy="9800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3" name="Shape 10"/>
          <p:cNvSpPr/>
          <p:nvPr/>
        </p:nvSpPr>
        <p:spPr>
          <a:xfrm>
            <a:off x="7452360" y="1418760"/>
            <a:ext cx="75346" cy="980000"/>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Text 11"/>
          <p:cNvSpPr/>
          <p:nvPr/>
        </p:nvSpPr>
        <p:spPr>
          <a:xfrm>
            <a:off x="7616952" y="1600000"/>
            <a:ext cx="3626053" cy="25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Whales dominate revenue</a:t>
            </a:r>
            <a:endParaRPr lang="en-US" sz="940" dirty="0"/>
          </a:p>
        </p:txBody>
      </p:sp>
      <p:sp>
        <p:nvSpPr>
          <p:cNvPr id="15" name="Text 12"/>
          <p:cNvSpPr/>
          <p:nvPr/>
        </p:nvSpPr>
        <p:spPr>
          <a:xfrm>
            <a:off x="7616952" y="1890000"/>
            <a:ext cx="3626053" cy="4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Whales are the smallest player group but generate the highest segment revenue.</a:t>
            </a:r>
            <a:endParaRPr lang="en-US" sz="740" dirty="0"/>
          </a:p>
        </p:txBody>
      </p:sp>
      <p:sp>
        <p:nvSpPr>
          <p:cNvPr id="16" name="Shape 13"/>
          <p:cNvSpPr/>
          <p:nvPr/>
        </p:nvSpPr>
        <p:spPr>
          <a:xfrm>
            <a:off x="7452360" y="2580048"/>
            <a:ext cx="3908602" cy="9800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7" name="Shape 14"/>
          <p:cNvSpPr/>
          <p:nvPr/>
        </p:nvSpPr>
        <p:spPr>
          <a:xfrm>
            <a:off x="7452360" y="2580048"/>
            <a:ext cx="75346" cy="980000"/>
          </a:xfrm>
          <a:prstGeom prst="rect">
            <a:avLst/>
          </a:prstGeom>
          <a:solidFill>
            <a:srgbClr val="FF6B6B"/>
          </a:solidFill>
          <a:ln w="12700">
            <a:solidFill>
              <a:srgbClr val="FF6B6B">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Text 15"/>
          <p:cNvSpPr/>
          <p:nvPr/>
        </p:nvSpPr>
        <p:spPr>
          <a:xfrm>
            <a:off x="7616952" y="2720000"/>
            <a:ext cx="3626053" cy="25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Minnows form the base</a:t>
            </a:r>
            <a:endParaRPr lang="en-US" sz="940" dirty="0"/>
          </a:p>
        </p:txBody>
      </p:sp>
      <p:sp>
        <p:nvSpPr>
          <p:cNvPr id="19" name="Text 16"/>
          <p:cNvSpPr/>
          <p:nvPr/>
        </p:nvSpPr>
        <p:spPr>
          <a:xfrm>
            <a:off x="7616952" y="3010000"/>
            <a:ext cx="3626053" cy="4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Minnows make up the largest population, but their individual revenue impact is low.</a:t>
            </a:r>
            <a:endParaRPr lang="en-US" sz="740" dirty="0"/>
          </a:p>
        </p:txBody>
      </p:sp>
      <p:sp>
        <p:nvSpPr>
          <p:cNvPr id="20" name="Shape 17"/>
          <p:cNvSpPr/>
          <p:nvPr/>
        </p:nvSpPr>
        <p:spPr>
          <a:xfrm>
            <a:off x="7452360" y="3741336"/>
            <a:ext cx="3908602" cy="9800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1" name="Shape 18"/>
          <p:cNvSpPr/>
          <p:nvPr/>
        </p:nvSpPr>
        <p:spPr>
          <a:xfrm>
            <a:off x="7452360" y="3741336"/>
            <a:ext cx="75346" cy="980000"/>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Text 19"/>
          <p:cNvSpPr/>
          <p:nvPr/>
        </p:nvSpPr>
        <p:spPr>
          <a:xfrm>
            <a:off x="7616952" y="3840000"/>
            <a:ext cx="3626053" cy="25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Age value pockets</a:t>
            </a:r>
            <a:endParaRPr lang="en-US" sz="940" dirty="0"/>
          </a:p>
        </p:txBody>
      </p:sp>
      <p:sp>
        <p:nvSpPr>
          <p:cNvPr id="23" name="Text 20"/>
          <p:cNvSpPr/>
          <p:nvPr/>
        </p:nvSpPr>
        <p:spPr>
          <a:xfrm>
            <a:off x="7616952" y="4130000"/>
            <a:ext cx="3626053" cy="4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25–34, 35–44, and 45+ show stronger revenue contribution than younger or unknown groups.</a:t>
            </a:r>
            <a:endParaRPr lang="en-US" sz="7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txBody>
          <a:bodyPr/>
          <a:p/>
        </p:txBody>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Segmentation Insight: Revenue Is Uneven</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Player count and revenue contribution move in opposite directions</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9</a:t>
            </a:r>
            <a:endParaRPr lang="en-US" sz="580" dirty="0"/>
          </a:p>
        </p:txBody>
      </p:sp>
      <p:sp>
        <p:nvSpPr>
          <p:cNvPr id="9" name="Shape 7"/>
          <p:cNvSpPr/>
          <p:nvPr/>
        </p:nvSpPr>
        <p:spPr>
          <a:xfrm>
            <a:off x="731520" y="1007280"/>
            <a:ext cx="2825496" cy="987552"/>
          </a:xfrm>
          <a:prstGeom prst="roundRect">
            <a:avLst>
              <a:gd name="adj" fmla="val 5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Shape 8"/>
          <p:cNvSpPr/>
          <p:nvPr/>
        </p:nvSpPr>
        <p:spPr>
          <a:xfrm>
            <a:off x="731520" y="1007280"/>
            <a:ext cx="75346" cy="987552"/>
          </a:xfrm>
          <a:prstGeom prst="rect">
            <a:avLst/>
          </a:prstGeom>
          <a:solidFill>
            <a:srgbClr val="FF6B6B"/>
          </a:solidFill>
          <a:ln w="12700">
            <a:solidFill>
              <a:srgbClr val="FF6B6B">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1" name="Text 9"/>
          <p:cNvSpPr/>
          <p:nvPr/>
        </p:nvSpPr>
        <p:spPr>
          <a:xfrm>
            <a:off x="896112" y="1153584"/>
            <a:ext cx="2542946"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Minnow</a:t>
            </a:r>
            <a:endParaRPr lang="en-US" sz="940" dirty="0"/>
          </a:p>
        </p:txBody>
      </p:sp>
      <p:sp>
        <p:nvSpPr>
          <p:cNvPr id="12" name="Text 10"/>
          <p:cNvSpPr/>
          <p:nvPr/>
        </p:nvSpPr>
        <p:spPr>
          <a:xfrm>
            <a:off x="896112" y="1446192"/>
            <a:ext cx="2542946" cy="41477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≈2.4K players</a:t>
            </a:r>
            <a:endParaRPr lang="en-US" sz="740" dirty="0"/>
          </a:p>
          <a:p>
            <a:pPr indent="0" marL="0">
              <a:lnSpc>
                <a:spcPct val="100000"/>
              </a:lnSpc>
              <a:spcBef>
                <a:spcPts val="0"/>
              </a:spcBef>
              <a:spcAft>
                <a:spcPts val="0"/>
              </a:spcAft>
              <a:buNone/>
            </a:pPr>
            <a:r>
              <a:rPr lang="en-US" sz="1250" dirty="0">
                <a:solidFill>
                  <a:srgbClr val="B9C9D8"/>
                </a:solidFill>
              </a:rPr>
              <a:t>≈€24K revenue</a:t>
            </a:r>
            <a:endParaRPr lang="en-US" sz="740" dirty="0"/>
          </a:p>
        </p:txBody>
      </p:sp>
      <p:sp>
        <p:nvSpPr>
          <p:cNvPr id="13" name="Shape 11"/>
          <p:cNvSpPr/>
          <p:nvPr/>
        </p:nvSpPr>
        <p:spPr>
          <a:xfrm>
            <a:off x="3840480" y="1007280"/>
            <a:ext cx="2825496" cy="987552"/>
          </a:xfrm>
          <a:prstGeom prst="roundRect">
            <a:avLst>
              <a:gd name="adj" fmla="val 5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Shape 12"/>
          <p:cNvSpPr/>
          <p:nvPr/>
        </p:nvSpPr>
        <p:spPr>
          <a:xfrm>
            <a:off x="3840480" y="1007280"/>
            <a:ext cx="75346" cy="987552"/>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5" name="Text 13"/>
          <p:cNvSpPr/>
          <p:nvPr/>
        </p:nvSpPr>
        <p:spPr>
          <a:xfrm>
            <a:off x="4005072" y="1153584"/>
            <a:ext cx="2542946"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Dolphin</a:t>
            </a:r>
            <a:endParaRPr lang="en-US" sz="940" dirty="0"/>
          </a:p>
        </p:txBody>
      </p:sp>
      <p:sp>
        <p:nvSpPr>
          <p:cNvPr id="16" name="Text 14"/>
          <p:cNvSpPr/>
          <p:nvPr/>
        </p:nvSpPr>
        <p:spPr>
          <a:xfrm>
            <a:off x="4005072" y="1446192"/>
            <a:ext cx="2542946" cy="41477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≈0.4K players</a:t>
            </a:r>
            <a:endParaRPr lang="en-US" sz="740" dirty="0"/>
          </a:p>
          <a:p>
            <a:pPr indent="0" marL="0">
              <a:lnSpc>
                <a:spcPct val="100000"/>
              </a:lnSpc>
              <a:spcBef>
                <a:spcPts val="0"/>
              </a:spcBef>
              <a:spcAft>
                <a:spcPts val="0"/>
              </a:spcAft>
              <a:buNone/>
            </a:pPr>
            <a:r>
              <a:rPr lang="en-US" sz="1250" dirty="0">
                <a:solidFill>
                  <a:srgbClr val="B9C9D8"/>
                </a:solidFill>
              </a:rPr>
              <a:t>≈€96K revenue</a:t>
            </a:r>
            <a:endParaRPr lang="en-US" sz="740" dirty="0"/>
          </a:p>
        </p:txBody>
      </p:sp>
      <p:sp>
        <p:nvSpPr>
          <p:cNvPr id="17" name="Shape 15"/>
          <p:cNvSpPr/>
          <p:nvPr/>
        </p:nvSpPr>
        <p:spPr>
          <a:xfrm>
            <a:off x="6949440" y="1007280"/>
            <a:ext cx="2825496" cy="987552"/>
          </a:xfrm>
          <a:prstGeom prst="roundRect">
            <a:avLst>
              <a:gd name="adj" fmla="val 5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Shape 16"/>
          <p:cNvSpPr/>
          <p:nvPr/>
        </p:nvSpPr>
        <p:spPr>
          <a:xfrm>
            <a:off x="6949440" y="1007280"/>
            <a:ext cx="75346" cy="987552"/>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9" name="Text 17"/>
          <p:cNvSpPr/>
          <p:nvPr/>
        </p:nvSpPr>
        <p:spPr>
          <a:xfrm>
            <a:off x="7114032" y="1153584"/>
            <a:ext cx="2542946"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Whale</a:t>
            </a:r>
            <a:endParaRPr lang="en-US" sz="940" dirty="0"/>
          </a:p>
        </p:txBody>
      </p:sp>
      <p:sp>
        <p:nvSpPr>
          <p:cNvPr id="20" name="Text 18"/>
          <p:cNvSpPr/>
          <p:nvPr/>
        </p:nvSpPr>
        <p:spPr>
          <a:xfrm>
            <a:off x="7114032" y="1446192"/>
            <a:ext cx="2542946" cy="41477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≈0.1K players</a:t>
            </a:r>
            <a:endParaRPr lang="en-US" sz="740" dirty="0"/>
          </a:p>
          <a:p>
            <a:pPr indent="0" marL="0">
              <a:lnSpc>
                <a:spcPct val="100000"/>
              </a:lnSpc>
              <a:spcBef>
                <a:spcPts val="0"/>
              </a:spcBef>
              <a:spcAft>
                <a:spcPts val="0"/>
              </a:spcAft>
              <a:buNone/>
            </a:pPr>
            <a:r>
              <a:rPr lang="en-US" sz="1250" dirty="0">
                <a:solidFill>
                  <a:srgbClr val="B9C9D8"/>
                </a:solidFill>
              </a:rPr>
              <a:t>≈€176K revenue</a:t>
            </a:r>
            <a:endParaRPr lang="en-US" sz="740" dirty="0"/>
          </a:p>
        </p:txBody>
      </p:sp>
      <p:sp>
        <p:nvSpPr>
          <p:cNvPr id="21" name="Text 19"/>
          <p:cNvSpPr/>
          <p:nvPr/>
        </p:nvSpPr>
        <p:spPr>
          <a:xfrm>
            <a:off x="731520" y="2698920"/>
            <a:ext cx="3013862" cy="19751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Segment revenue comparison</a:t>
            </a:r>
            <a:endParaRPr lang="en-US" sz="1100" dirty="0"/>
          </a:p>
        </p:txBody>
      </p:sp>
      <p:sp>
        <p:nvSpPr>
          <p:cNvPr id="22" name="Shape 20"/>
          <p:cNvSpPr/>
          <p:nvPr/>
        </p:nvSpPr>
        <p:spPr>
          <a:xfrm>
            <a:off x="822960" y="3156120"/>
            <a:ext cx="1271473" cy="276514"/>
          </a:xfrm>
          <a:prstGeom prst="rect">
            <a:avLst/>
          </a:prstGeom>
          <a:solidFill>
            <a:srgbClr val="FF6B6B"/>
          </a:solidFill>
          <a:ln w="12700">
            <a:solidFill>
              <a:srgbClr val="FF6B6B">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23" name="Text 21"/>
          <p:cNvSpPr/>
          <p:nvPr/>
        </p:nvSpPr>
        <p:spPr>
          <a:xfrm>
            <a:off x="2212848" y="3183552"/>
            <a:ext cx="1036015"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dirty="0">
                <a:solidFill>
                  <a:srgbClr val="B9C9D8"/>
                </a:solidFill>
              </a:rPr>
              <a:t>Minnow</a:t>
            </a:r>
            <a:endParaRPr lang="en-US" sz="680" dirty="0"/>
          </a:p>
        </p:txBody>
      </p:sp>
      <p:sp>
        <p:nvSpPr>
          <p:cNvPr id="24" name="Shape 22"/>
          <p:cNvSpPr/>
          <p:nvPr/>
        </p:nvSpPr>
        <p:spPr>
          <a:xfrm>
            <a:off x="822960" y="3677328"/>
            <a:ext cx="3484778" cy="276514"/>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25" name="Text 23"/>
          <p:cNvSpPr/>
          <p:nvPr/>
        </p:nvSpPr>
        <p:spPr>
          <a:xfrm>
            <a:off x="4370832" y="3704760"/>
            <a:ext cx="1036015"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dirty="0">
                <a:solidFill>
                  <a:srgbClr val="B9C9D8"/>
                </a:solidFill>
              </a:rPr>
              <a:t>Dolphin</a:t>
            </a:r>
            <a:endParaRPr lang="en-US" sz="680" dirty="0"/>
          </a:p>
        </p:txBody>
      </p:sp>
      <p:sp>
        <p:nvSpPr>
          <p:cNvPr id="26" name="Shape 24"/>
          <p:cNvSpPr/>
          <p:nvPr/>
        </p:nvSpPr>
        <p:spPr>
          <a:xfrm>
            <a:off x="822960" y="4198536"/>
            <a:ext cx="6592824" cy="276514"/>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500"/>
            </a:pPr>
          </a:p>
        </p:txBody>
      </p:sp>
      <p:sp>
        <p:nvSpPr>
          <p:cNvPr id="27" name="Text 25"/>
          <p:cNvSpPr/>
          <p:nvPr/>
        </p:nvSpPr>
        <p:spPr>
          <a:xfrm>
            <a:off x="7388352" y="4225968"/>
            <a:ext cx="1036015" cy="9875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dirty="0">
                <a:solidFill>
                  <a:srgbClr val="B9C9D8"/>
                </a:solidFill>
              </a:rPr>
              <a:t>Whale</a:t>
            </a:r>
            <a:endParaRPr lang="en-US" sz="680" dirty="0"/>
          </a:p>
        </p:txBody>
      </p:sp>
      <p:sp>
        <p:nvSpPr>
          <p:cNvPr id="28" name="Shape 26"/>
          <p:cNvSpPr/>
          <p:nvPr/>
        </p:nvSpPr>
        <p:spPr>
          <a:xfrm>
            <a:off x="8229600" y="2881800"/>
            <a:ext cx="3013862" cy="1333195"/>
          </a:xfrm>
          <a:prstGeom prst="roundRect">
            <a:avLst>
              <a:gd name="adj" fmla="val 3704"/>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9" name="Shape 27"/>
          <p:cNvSpPr/>
          <p:nvPr/>
        </p:nvSpPr>
        <p:spPr>
          <a:xfrm>
            <a:off x="8229600" y="2881800"/>
            <a:ext cx="75346" cy="1333195"/>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0" name="Text 28"/>
          <p:cNvSpPr/>
          <p:nvPr/>
        </p:nvSpPr>
        <p:spPr>
          <a:xfrm>
            <a:off x="8394192" y="3028104"/>
            <a:ext cx="2731312"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Insight</a:t>
            </a:r>
            <a:endParaRPr lang="en-US" sz="940" dirty="0"/>
          </a:p>
        </p:txBody>
      </p:sp>
      <p:sp>
        <p:nvSpPr>
          <p:cNvPr id="31" name="Text 29"/>
          <p:cNvSpPr/>
          <p:nvPr/>
        </p:nvSpPr>
        <p:spPr>
          <a:xfrm>
            <a:off x="8394192" y="3320712"/>
            <a:ext cx="2731312" cy="76041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The largest group is not the most profitable group; small high-value users create most monetization impact.</a:t>
            </a:r>
            <a:endParaRPr lang="en-US" sz="740" dirty="0"/>
          </a:p>
        </p:txBody>
      </p:sp>
      <p:sp>
        <p:nvSpPr>
          <p:cNvPr id="32" name="Text 30"/>
          <p:cNvSpPr/>
          <p:nvPr/>
        </p:nvSpPr>
        <p:spPr>
          <a:xfrm>
            <a:off x="822960" y="5200000"/>
            <a:ext cx="10454335" cy="42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400" b="1" dirty="0">
                <a:solidFill>
                  <a:srgbClr val="F4D34D"/>
                </a:solidFill>
              </a:rPr>
              <a:t>Conclusion: protect Whale retention, upgrade Dolphins through targeted offers, and raise Minnow contribution with low-friction bundles.</a:t>
            </a:r>
            <a:endParaRPr lang="en-US" sz="11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txBody>
          <a:bodyPr/>
          <a:p/>
        </p:txBody>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Power BI Player Behaviour &amp; Preferences</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Session behavior, first purchase timing, payment methods, and game genre spending</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10</a:t>
            </a:r>
            <a:endParaRPr lang="en-US" sz="580" dirty="0"/>
          </a:p>
        </p:txBody>
      </p:sp>
      <p:sp>
        <p:nvSpPr>
          <p:cNvPr id="9" name="Shape 7"/>
          <p:cNvSpPr/>
          <p:nvPr/>
        </p:nvSpPr>
        <p:spPr>
          <a:xfrm>
            <a:off x="640080" y="1007280"/>
            <a:ext cx="6592824" cy="4480560"/>
          </a:xfrm>
          <a:prstGeom prst="roundRect">
            <a:avLst>
              <a:gd name="adj" fmla="val 1020"/>
            </a:avLst>
          </a:prstGeom>
          <a:solidFill>
            <a:srgbClr val="0E253E"/>
          </a:solidFill>
          <a:ln w="12700">
            <a:solidFill>
              <a:srgbClr val="24405F"/>
            </a:solidFill>
            <a:prstDash val="solid"/>
          </a:ln>
          <a:effectLst>
            <a:outerShdw sx="100000" sy="100000" kx="0" ky="0" algn="bl" rotWithShape="0" blurRad="15240" dist="12700" dir="2700000">
              <a:srgbClr val="000000">
                <a:alpha val="22000"/>
              </a:srgbClr>
            </a:outerShdw>
          </a:effectLst>
        </p:spPr>
        <p:txBody>
          <a:bodyPr lIns="27432" rIns="27432" tIns="18288" bIns="18288" wrap="square" anchor="t">
            <a:noAutofit/>
          </a:bodyPr>
          <a:p>
            <a:pPr>
              <a:lnSpc>
                <a:spcPct val="100000"/>
              </a:lnSpc>
              <a:spcBef>
                <a:spcPts val="0"/>
              </a:spcBef>
              <a:spcAft>
                <a:spcPts val="0"/>
              </a:spcAft>
              <a:defRPr sz="1250"/>
            </a:pPr>
          </a:p>
        </p:txBody>
      </p:sp>
      <p:pic>
        <p:nvPicPr>
          <p:cNvPr id="10" name="Image 0" descr="/mnt/data/PNG图像 3_cropped.png">    </p:cNvPr>
          <p:cNvPicPr>
            <a:picLocks noChangeAspect="1"/>
          </p:cNvPicPr>
          <p:nvPr/>
        </p:nvPicPr>
        <p:blipFill>
          <a:blip r:embed="rId1"/>
          <a:stretch>
            <a:fillRect/>
          </a:stretch>
        </p:blipFill>
        <p:spPr>
          <a:xfrm>
            <a:off x="720000" y="1500000"/>
            <a:ext cx="6400000" cy="3550000"/>
          </a:xfrm>
          <a:prstGeom prst="rect">
            <a:avLst/>
          </a:prstGeom>
        </p:spPr>
      </p:pic>
      <p:sp>
        <p:nvSpPr>
          <p:cNvPr id="11" name="Text 8"/>
          <p:cNvSpPr/>
          <p:nvPr/>
        </p:nvSpPr>
        <p:spPr>
          <a:xfrm>
            <a:off x="7498080" y="1030000"/>
            <a:ext cx="3296412" cy="2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What to explain</a:t>
            </a:r>
            <a:endParaRPr lang="en-US" sz="1150" dirty="0"/>
          </a:p>
        </p:txBody>
      </p:sp>
      <p:sp>
        <p:nvSpPr>
          <p:cNvPr id="12" name="Shape 9"/>
          <p:cNvSpPr/>
          <p:nvPr/>
        </p:nvSpPr>
        <p:spPr>
          <a:xfrm>
            <a:off x="7452360" y="1418760"/>
            <a:ext cx="3908602" cy="9800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3" name="Shape 10"/>
          <p:cNvSpPr/>
          <p:nvPr/>
        </p:nvSpPr>
        <p:spPr>
          <a:xfrm>
            <a:off x="7452360" y="1418760"/>
            <a:ext cx="75346" cy="980000"/>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Text 11"/>
          <p:cNvSpPr/>
          <p:nvPr/>
        </p:nvSpPr>
        <p:spPr>
          <a:xfrm>
            <a:off x="7616952" y="1600000"/>
            <a:ext cx="3626053" cy="25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Engagement is steady</a:t>
            </a:r>
            <a:endParaRPr lang="en-US" sz="940" dirty="0"/>
          </a:p>
        </p:txBody>
      </p:sp>
      <p:sp>
        <p:nvSpPr>
          <p:cNvPr id="15" name="Text 12"/>
          <p:cNvSpPr/>
          <p:nvPr/>
        </p:nvSpPr>
        <p:spPr>
          <a:xfrm>
            <a:off x="7616952" y="1890000"/>
            <a:ext cx="3626053" cy="4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Average playtime is similar across segments, so higher spending is not simply caused by longer playtime.</a:t>
            </a:r>
            <a:endParaRPr lang="en-US" sz="740" dirty="0"/>
          </a:p>
        </p:txBody>
      </p:sp>
      <p:sp>
        <p:nvSpPr>
          <p:cNvPr id="16" name="Shape 13"/>
          <p:cNvSpPr/>
          <p:nvPr/>
        </p:nvSpPr>
        <p:spPr>
          <a:xfrm>
            <a:off x="7452360" y="2580048"/>
            <a:ext cx="3908602" cy="9800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7" name="Shape 14"/>
          <p:cNvSpPr/>
          <p:nvPr/>
        </p:nvSpPr>
        <p:spPr>
          <a:xfrm>
            <a:off x="7452360" y="2580048"/>
            <a:ext cx="75346" cy="980000"/>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Text 15"/>
          <p:cNvSpPr/>
          <p:nvPr/>
        </p:nvSpPr>
        <p:spPr>
          <a:xfrm>
            <a:off x="7616952" y="2720000"/>
            <a:ext cx="3626053" cy="25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First purchase timing</a:t>
            </a:r>
            <a:endParaRPr lang="en-US" sz="940" dirty="0"/>
          </a:p>
        </p:txBody>
      </p:sp>
      <p:sp>
        <p:nvSpPr>
          <p:cNvPr id="19" name="Text 16"/>
          <p:cNvSpPr/>
          <p:nvPr/>
        </p:nvSpPr>
        <p:spPr>
          <a:xfrm>
            <a:off x="7616952" y="3010000"/>
            <a:ext cx="3626053" cy="4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Average days until first purchase is close across segments, around 15–16 days.</a:t>
            </a:r>
            <a:endParaRPr lang="en-US" sz="740" dirty="0"/>
          </a:p>
        </p:txBody>
      </p:sp>
      <p:sp>
        <p:nvSpPr>
          <p:cNvPr id="20" name="Shape 17"/>
          <p:cNvSpPr/>
          <p:nvPr/>
        </p:nvSpPr>
        <p:spPr>
          <a:xfrm>
            <a:off x="7452360" y="3741336"/>
            <a:ext cx="3908602" cy="980000"/>
          </a:xfrm>
          <a:prstGeom prst="roundRect">
            <a:avLst>
              <a:gd name="adj" fmla="val 510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1" name="Shape 18"/>
          <p:cNvSpPr/>
          <p:nvPr/>
        </p:nvSpPr>
        <p:spPr>
          <a:xfrm>
            <a:off x="7452360" y="3741336"/>
            <a:ext cx="75346" cy="980000"/>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Text 19"/>
          <p:cNvSpPr/>
          <p:nvPr/>
        </p:nvSpPr>
        <p:spPr>
          <a:xfrm>
            <a:off x="7616952" y="3840000"/>
            <a:ext cx="3626053" cy="25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Diversified channels</a:t>
            </a:r>
            <a:endParaRPr lang="en-US" sz="940" dirty="0"/>
          </a:p>
        </p:txBody>
      </p:sp>
      <p:sp>
        <p:nvSpPr>
          <p:cNvPr id="23" name="Text 20"/>
          <p:cNvSpPr/>
          <p:nvPr/>
        </p:nvSpPr>
        <p:spPr>
          <a:xfrm>
            <a:off x="7616952" y="4130000"/>
            <a:ext cx="3626053" cy="48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Revenue is spread across multiple payment methods and game genres, reducing dependence on one route.</a:t>
            </a:r>
            <a:endParaRPr lang="en-US" sz="7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txBody>
          <a:bodyPr/>
          <a:p/>
        </p:txBody>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EDA Insight: Engagement Does Not Explain Spending Alone</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Correlation results separate gameplay activity from monetization behavior</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11</a:t>
            </a:r>
            <a:endParaRPr lang="en-US" sz="580" dirty="0"/>
          </a:p>
        </p:txBody>
      </p:sp>
      <p:sp>
        <p:nvSpPr>
          <p:cNvPr id="9" name="Shape 7"/>
          <p:cNvSpPr/>
          <p:nvPr/>
        </p:nvSpPr>
        <p:spPr>
          <a:xfrm>
            <a:off x="731520" y="1053000"/>
            <a:ext cx="1695297"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Text 8"/>
          <p:cNvSpPr/>
          <p:nvPr/>
        </p:nvSpPr>
        <p:spPr>
          <a:xfrm>
            <a:off x="804672" y="1199304"/>
            <a:ext cx="1544604"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2ECAC6"/>
                </a:solidFill>
              </a:rPr>
              <a:t>0.781</a:t>
            </a:r>
            <a:endParaRPr lang="en-US" sz="1540" dirty="0"/>
          </a:p>
        </p:txBody>
      </p:sp>
      <p:sp>
        <p:nvSpPr>
          <p:cNvPr id="11" name="Text 9"/>
          <p:cNvSpPr/>
          <p:nvPr/>
        </p:nvSpPr>
        <p:spPr>
          <a:xfrm>
            <a:off x="804672" y="1519344"/>
            <a:ext cx="1544604"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session length vs playtime</a:t>
            </a:r>
            <a:endParaRPr lang="en-US" sz="560" dirty="0"/>
          </a:p>
        </p:txBody>
      </p:sp>
      <p:sp>
        <p:nvSpPr>
          <p:cNvPr id="12" name="Shape 10"/>
          <p:cNvSpPr/>
          <p:nvPr/>
        </p:nvSpPr>
        <p:spPr>
          <a:xfrm>
            <a:off x="2697480" y="1053000"/>
            <a:ext cx="1695297"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3" name="Text 11"/>
          <p:cNvSpPr/>
          <p:nvPr/>
        </p:nvSpPr>
        <p:spPr>
          <a:xfrm>
            <a:off x="2770632" y="1199304"/>
            <a:ext cx="1544604"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2F80ED"/>
                </a:solidFill>
              </a:rPr>
              <a:t>0.565</a:t>
            </a:r>
            <a:endParaRPr lang="en-US" sz="1540" dirty="0"/>
          </a:p>
        </p:txBody>
      </p:sp>
      <p:sp>
        <p:nvSpPr>
          <p:cNvPr id="14" name="Text 12"/>
          <p:cNvSpPr/>
          <p:nvPr/>
        </p:nvSpPr>
        <p:spPr>
          <a:xfrm>
            <a:off x="2770632" y="1519344"/>
            <a:ext cx="1544604"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session count vs playtime</a:t>
            </a:r>
            <a:endParaRPr lang="en-US" sz="560" dirty="0"/>
          </a:p>
        </p:txBody>
      </p:sp>
      <p:sp>
        <p:nvSpPr>
          <p:cNvPr id="15" name="Shape 13"/>
          <p:cNvSpPr/>
          <p:nvPr/>
        </p:nvSpPr>
        <p:spPr>
          <a:xfrm>
            <a:off x="4663440" y="1053000"/>
            <a:ext cx="1695297"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6" name="Text 14"/>
          <p:cNvSpPr/>
          <p:nvPr/>
        </p:nvSpPr>
        <p:spPr>
          <a:xfrm>
            <a:off x="4736592" y="1199304"/>
            <a:ext cx="1544604"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FF6B6B"/>
                </a:solidFill>
              </a:rPr>
              <a:t>0.001</a:t>
            </a:r>
            <a:endParaRPr lang="en-US" sz="1540" dirty="0"/>
          </a:p>
        </p:txBody>
      </p:sp>
      <p:sp>
        <p:nvSpPr>
          <p:cNvPr id="17" name="Text 15"/>
          <p:cNvSpPr/>
          <p:nvPr/>
        </p:nvSpPr>
        <p:spPr>
          <a:xfrm>
            <a:off x="4736592" y="1519344"/>
            <a:ext cx="1544604"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purchase vs playtime</a:t>
            </a:r>
            <a:endParaRPr lang="en-US" sz="560" dirty="0"/>
          </a:p>
        </p:txBody>
      </p:sp>
      <p:sp>
        <p:nvSpPr>
          <p:cNvPr id="18" name="Shape 16"/>
          <p:cNvSpPr/>
          <p:nvPr/>
        </p:nvSpPr>
        <p:spPr>
          <a:xfrm>
            <a:off x="6629400" y="1053000"/>
            <a:ext cx="1695297" cy="809792"/>
          </a:xfrm>
          <a:prstGeom prst="roundRect">
            <a:avLst>
              <a:gd name="adj" fmla="val 7317"/>
            </a:avLst>
          </a:prstGeom>
          <a:solidFill>
            <a:srgbClr val="0E253E"/>
          </a:solidFill>
          <a:ln w="8890">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9" name="Text 17"/>
          <p:cNvSpPr/>
          <p:nvPr/>
        </p:nvSpPr>
        <p:spPr>
          <a:xfrm>
            <a:off x="6702552" y="1199304"/>
            <a:ext cx="1544604" cy="256763"/>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400" b="1" dirty="0">
                <a:solidFill>
                  <a:srgbClr val="FF6B6B"/>
                </a:solidFill>
              </a:rPr>
              <a:t>0.035</a:t>
            </a:r>
            <a:endParaRPr lang="en-US" sz="1540" dirty="0"/>
          </a:p>
        </p:txBody>
      </p:sp>
      <p:sp>
        <p:nvSpPr>
          <p:cNvPr id="20" name="Text 18"/>
          <p:cNvSpPr/>
          <p:nvPr/>
        </p:nvSpPr>
        <p:spPr>
          <a:xfrm>
            <a:off x="6702552" y="1519344"/>
            <a:ext cx="1544604" cy="128381"/>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600" dirty="0">
                <a:solidFill>
                  <a:srgbClr val="B9C9D8"/>
                </a:solidFill>
              </a:rPr>
              <a:t>purchase vs sessions</a:t>
            </a:r>
            <a:endParaRPr lang="en-US" sz="560" dirty="0"/>
          </a:p>
        </p:txBody>
      </p:sp>
      <p:sp>
        <p:nvSpPr>
          <p:cNvPr id="21" name="Shape 19"/>
          <p:cNvSpPr/>
          <p:nvPr/>
        </p:nvSpPr>
        <p:spPr>
          <a:xfrm>
            <a:off x="8732520" y="1053000"/>
            <a:ext cx="2166213" cy="809792"/>
          </a:xfrm>
          <a:prstGeom prst="roundRect">
            <a:avLst>
              <a:gd name="adj" fmla="val 6098"/>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Shape 20"/>
          <p:cNvSpPr/>
          <p:nvPr/>
        </p:nvSpPr>
        <p:spPr>
          <a:xfrm>
            <a:off x="8732520" y="1053000"/>
            <a:ext cx="75346" cy="809792"/>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3" name="Text 21"/>
          <p:cNvSpPr/>
          <p:nvPr/>
        </p:nvSpPr>
        <p:spPr>
          <a:xfrm>
            <a:off x="8897112" y="1199304"/>
            <a:ext cx="188366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Main message</a:t>
            </a:r>
            <a:endParaRPr lang="en-US" sz="940" dirty="0"/>
          </a:p>
        </p:txBody>
      </p:sp>
      <p:sp>
        <p:nvSpPr>
          <p:cNvPr id="24" name="Text 22"/>
          <p:cNvSpPr/>
          <p:nvPr/>
        </p:nvSpPr>
        <p:spPr>
          <a:xfrm>
            <a:off x="8897112" y="1491912"/>
            <a:ext cx="1883664" cy="23701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500" dirty="0">
                <a:solidFill>
                  <a:srgbClr val="B9C9D8"/>
                </a:solidFill>
              </a:rPr>
              <a:t>Playing more does not automatically mean spending more.</a:t>
            </a:r>
            <a:endParaRPr lang="en-US" sz="740" dirty="0"/>
          </a:p>
        </p:txBody>
      </p:sp>
      <p:sp>
        <p:nvSpPr>
          <p:cNvPr id="25" name="Shape 23"/>
          <p:cNvSpPr/>
          <p:nvPr/>
        </p:nvSpPr>
        <p:spPr>
          <a:xfrm>
            <a:off x="822960" y="2744640"/>
            <a:ext cx="4991709" cy="1185062"/>
          </a:xfrm>
          <a:prstGeom prst="roundRect">
            <a:avLst>
              <a:gd name="adj" fmla="val 4167"/>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6" name="Shape 24"/>
          <p:cNvSpPr/>
          <p:nvPr/>
        </p:nvSpPr>
        <p:spPr>
          <a:xfrm>
            <a:off x="822960" y="2744640"/>
            <a:ext cx="75346" cy="1185062"/>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7" name="Text 25"/>
          <p:cNvSpPr/>
          <p:nvPr/>
        </p:nvSpPr>
        <p:spPr>
          <a:xfrm>
            <a:off x="987552" y="2890944"/>
            <a:ext cx="4709160"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Interpretation</a:t>
            </a:r>
            <a:endParaRPr lang="en-US" sz="940" dirty="0"/>
          </a:p>
        </p:txBody>
      </p:sp>
      <p:sp>
        <p:nvSpPr>
          <p:cNvPr id="28" name="Text 26"/>
          <p:cNvSpPr/>
          <p:nvPr/>
        </p:nvSpPr>
        <p:spPr>
          <a:xfrm>
            <a:off x="987552" y="3183552"/>
            <a:ext cx="4709160" cy="61228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Engagement metrics explain activity patterns, but they barely explain purchase amount. High spenders may not be the players with the longest playtime or most sessions.</a:t>
            </a:r>
            <a:endParaRPr lang="en-US" sz="740" dirty="0"/>
          </a:p>
        </p:txBody>
      </p:sp>
      <p:sp>
        <p:nvSpPr>
          <p:cNvPr id="29" name="Shape 27"/>
          <p:cNvSpPr/>
          <p:nvPr/>
        </p:nvSpPr>
        <p:spPr>
          <a:xfrm>
            <a:off x="6172200" y="2744640"/>
            <a:ext cx="4991709" cy="1185062"/>
          </a:xfrm>
          <a:prstGeom prst="roundRect">
            <a:avLst>
              <a:gd name="adj" fmla="val 4167"/>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0" name="Shape 28"/>
          <p:cNvSpPr/>
          <p:nvPr/>
        </p:nvSpPr>
        <p:spPr>
          <a:xfrm>
            <a:off x="6172200" y="2744640"/>
            <a:ext cx="75346" cy="1185062"/>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1" name="Text 29"/>
          <p:cNvSpPr/>
          <p:nvPr/>
        </p:nvSpPr>
        <p:spPr>
          <a:xfrm>
            <a:off x="6336792" y="2890944"/>
            <a:ext cx="4709160"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Business meaning</a:t>
            </a:r>
            <a:endParaRPr lang="en-US" sz="940" dirty="0"/>
          </a:p>
        </p:txBody>
      </p:sp>
      <p:sp>
        <p:nvSpPr>
          <p:cNvPr id="32" name="Text 30"/>
          <p:cNvSpPr/>
          <p:nvPr/>
        </p:nvSpPr>
        <p:spPr>
          <a:xfrm>
            <a:off x="6336792" y="3183552"/>
            <a:ext cx="4709160" cy="61228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Monetization needs player motivation, personalized offer design, and value perception. Revenue strategy should not rely only on increasing playtime.</a:t>
            </a:r>
            <a:endParaRPr lang="en-US" sz="740" dirty="0"/>
          </a:p>
        </p:txBody>
      </p:sp>
      <p:sp>
        <p:nvSpPr>
          <p:cNvPr id="33" name="Shape 31"/>
          <p:cNvSpPr/>
          <p:nvPr/>
        </p:nvSpPr>
        <p:spPr>
          <a:xfrm>
            <a:off x="914400" y="4646592"/>
            <a:ext cx="10313060" cy="0"/>
          </a:xfrm>
          <a:prstGeom prst="line">
            <a:avLst/>
          </a:prstGeom>
          <a:noFill/>
          <a:ln w="27940">
            <a:solidFill>
              <a:srgbClr val="F4D34D"/>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34" name="Text 32"/>
          <p:cNvSpPr/>
          <p:nvPr/>
        </p:nvSpPr>
        <p:spPr>
          <a:xfrm>
            <a:off x="914400" y="5000000"/>
            <a:ext cx="9700869" cy="42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400" b="1" dirty="0">
                <a:solidFill>
                  <a:srgbClr val="F4D34D"/>
                </a:solidFill>
              </a:rPr>
              <a:t>Conclusion: recommend segment-based monetization actions, not only engagement-growth actions.</a:t>
            </a:r>
            <a:endParaRPr lang="en-US" sz="12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Payment &amp; Genre Insights</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Power BI visuals show diversified monetization channels</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12</a:t>
            </a:r>
            <a:endParaRPr lang="en-US" sz="580" dirty="0"/>
          </a:p>
        </p:txBody>
      </p:sp>
      <p:sp>
        <p:nvSpPr>
          <p:cNvPr id="9" name="Shape 7"/>
          <p:cNvSpPr/>
          <p:nvPr/>
        </p:nvSpPr>
        <p:spPr>
          <a:xfrm>
            <a:off x="731520" y="1007280"/>
            <a:ext cx="3249320" cy="1185062"/>
          </a:xfrm>
          <a:prstGeom prst="roundRect">
            <a:avLst>
              <a:gd name="adj" fmla="val 4167"/>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Shape 8"/>
          <p:cNvSpPr/>
          <p:nvPr/>
        </p:nvSpPr>
        <p:spPr>
          <a:xfrm>
            <a:off x="731520" y="1007280"/>
            <a:ext cx="75346" cy="1185062"/>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1" name="Text 9"/>
          <p:cNvSpPr/>
          <p:nvPr/>
        </p:nvSpPr>
        <p:spPr>
          <a:xfrm>
            <a:off x="896112" y="1153584"/>
            <a:ext cx="2966770"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Payment method</a:t>
            </a:r>
            <a:endParaRPr lang="en-US" sz="940" dirty="0"/>
          </a:p>
        </p:txBody>
      </p:sp>
      <p:sp>
        <p:nvSpPr>
          <p:cNvPr id="12" name="Text 10"/>
          <p:cNvSpPr/>
          <p:nvPr/>
        </p:nvSpPr>
        <p:spPr>
          <a:xfrm>
            <a:off x="896112" y="1446192"/>
            <a:ext cx="2966770" cy="61228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Debit Card leads revenue, but PayPal, Gift Card, Carrier Billing, Google Pay, Credit Card, and Apple Pay all matter.</a:t>
            </a:r>
            <a:endParaRPr lang="en-US" sz="740" dirty="0"/>
          </a:p>
        </p:txBody>
      </p:sp>
      <p:sp>
        <p:nvSpPr>
          <p:cNvPr id="13" name="Shape 11"/>
          <p:cNvSpPr/>
          <p:nvPr/>
        </p:nvSpPr>
        <p:spPr>
          <a:xfrm>
            <a:off x="4389120" y="1007280"/>
            <a:ext cx="3249320" cy="1185062"/>
          </a:xfrm>
          <a:prstGeom prst="roundRect">
            <a:avLst>
              <a:gd name="adj" fmla="val 4167"/>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Shape 12"/>
          <p:cNvSpPr/>
          <p:nvPr/>
        </p:nvSpPr>
        <p:spPr>
          <a:xfrm>
            <a:off x="4389120" y="1007280"/>
            <a:ext cx="75346" cy="1185062"/>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5" name="Text 13"/>
          <p:cNvSpPr/>
          <p:nvPr/>
        </p:nvSpPr>
        <p:spPr>
          <a:xfrm>
            <a:off x="4553712" y="1153584"/>
            <a:ext cx="2966770"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Game genre</a:t>
            </a:r>
            <a:endParaRPr lang="en-US" sz="940" dirty="0"/>
          </a:p>
        </p:txBody>
      </p:sp>
      <p:sp>
        <p:nvSpPr>
          <p:cNvPr id="16" name="Text 14"/>
          <p:cNvSpPr/>
          <p:nvPr/>
        </p:nvSpPr>
        <p:spPr>
          <a:xfrm>
            <a:off x="4553712" y="1446192"/>
            <a:ext cx="2966770" cy="61228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No single game genre dominates purchase value; spending is spread across different preferences.</a:t>
            </a:r>
            <a:endParaRPr lang="en-US" sz="740" dirty="0"/>
          </a:p>
        </p:txBody>
      </p:sp>
      <p:sp>
        <p:nvSpPr>
          <p:cNvPr id="17" name="Shape 15"/>
          <p:cNvSpPr/>
          <p:nvPr/>
        </p:nvSpPr>
        <p:spPr>
          <a:xfrm>
            <a:off x="8046720" y="1007280"/>
            <a:ext cx="3249320" cy="1185062"/>
          </a:xfrm>
          <a:prstGeom prst="roundRect">
            <a:avLst>
              <a:gd name="adj" fmla="val 4167"/>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Shape 16"/>
          <p:cNvSpPr/>
          <p:nvPr/>
        </p:nvSpPr>
        <p:spPr>
          <a:xfrm>
            <a:off x="8046720" y="1007280"/>
            <a:ext cx="75346" cy="1185062"/>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9" name="Text 17"/>
          <p:cNvSpPr/>
          <p:nvPr/>
        </p:nvSpPr>
        <p:spPr>
          <a:xfrm>
            <a:off x="8211312" y="1153584"/>
            <a:ext cx="2966770"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First purchase</a:t>
            </a:r>
            <a:endParaRPr lang="en-US" sz="940" dirty="0"/>
          </a:p>
        </p:txBody>
      </p:sp>
      <p:sp>
        <p:nvSpPr>
          <p:cNvPr id="20" name="Text 18"/>
          <p:cNvSpPr/>
          <p:nvPr/>
        </p:nvSpPr>
        <p:spPr>
          <a:xfrm>
            <a:off x="8211312" y="1446192"/>
            <a:ext cx="2966770" cy="61228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Segments reach first purchase at similar times, so early lifecycle offers can be broadly planned.</a:t>
            </a:r>
            <a:endParaRPr lang="en-US" sz="740" dirty="0"/>
          </a:p>
        </p:txBody>
      </p:sp>
      <p:sp>
        <p:nvSpPr>
          <p:cNvPr id="21" name="Text 19"/>
          <p:cNvSpPr/>
          <p:nvPr/>
        </p:nvSpPr>
        <p:spPr>
          <a:xfrm>
            <a:off x="777240" y="2881800"/>
            <a:ext cx="3296412" cy="24688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Business implications</a:t>
            </a:r>
            <a:endParaRPr lang="en-US" sz="1300" dirty="0"/>
          </a:p>
        </p:txBody>
      </p:sp>
      <p:sp>
        <p:nvSpPr>
          <p:cNvPr id="22" name="Text 20"/>
          <p:cNvSpPr/>
          <p:nvPr/>
        </p:nvSpPr>
        <p:spPr>
          <a:xfrm>
            <a:off x="868680" y="3311568"/>
            <a:ext cx="5368442" cy="133319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 Keep multiple payment methods active to reduce purchase friction.</a:t>
            </a:r>
            <a:endParaRPr lang="en-US" sz="880" dirty="0"/>
          </a:p>
          <a:p>
            <a:pPr indent="0" marL="0">
              <a:lnSpc>
                <a:spcPct val="100000"/>
              </a:lnSpc>
              <a:spcBef>
                <a:spcPts val="0"/>
              </a:spcBef>
              <a:spcAft>
                <a:spcPts val="0"/>
              </a:spcAft>
              <a:buNone/>
            </a:pPr>
            <a:r>
              <a:rPr lang="en-US" sz="1250" dirty="0">
                <a:solidFill>
                  <a:srgbClr val="B9C9D8"/>
                </a:solidFill>
              </a:rPr>
              <a:t>• Use genre-based promotions instead of assuming one genre contains all high-value users.</a:t>
            </a:r>
            <a:endParaRPr lang="en-US" sz="880" dirty="0"/>
          </a:p>
          <a:p>
            <a:pPr indent="0" marL="0">
              <a:lnSpc>
                <a:spcPct val="100000"/>
              </a:lnSpc>
              <a:spcBef>
                <a:spcPts val="0"/>
              </a:spcBef>
              <a:spcAft>
                <a:spcPts val="0"/>
              </a:spcAft>
              <a:buNone/>
            </a:pPr>
            <a:r>
              <a:rPr lang="en-US" sz="1250" dirty="0">
                <a:solidFill>
                  <a:srgbClr val="B9C9D8"/>
                </a:solidFill>
              </a:rPr>
              <a:t>• Test offers around the first two weeks after install, when conversion behavior becomes visible.</a:t>
            </a:r>
            <a:endParaRPr lang="en-US" sz="880" dirty="0"/>
          </a:p>
        </p:txBody>
      </p:sp>
      <p:sp>
        <p:nvSpPr>
          <p:cNvPr id="23" name="Shape 21"/>
          <p:cNvSpPr/>
          <p:nvPr/>
        </p:nvSpPr>
        <p:spPr>
          <a:xfrm>
            <a:off x="6537960" y="3064680"/>
            <a:ext cx="4614976" cy="1530705"/>
          </a:xfrm>
          <a:prstGeom prst="roundRect">
            <a:avLst>
              <a:gd name="adj" fmla="val 3226"/>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4" name="Shape 22"/>
          <p:cNvSpPr/>
          <p:nvPr/>
        </p:nvSpPr>
        <p:spPr>
          <a:xfrm>
            <a:off x="6537960" y="3064680"/>
            <a:ext cx="75346" cy="1530705"/>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5" name="Text 23"/>
          <p:cNvSpPr/>
          <p:nvPr/>
        </p:nvSpPr>
        <p:spPr>
          <a:xfrm>
            <a:off x="6702552" y="3210984"/>
            <a:ext cx="4332427"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Conclusion</a:t>
            </a:r>
            <a:endParaRPr lang="en-US" sz="940" dirty="0"/>
          </a:p>
        </p:txBody>
      </p:sp>
      <p:sp>
        <p:nvSpPr>
          <p:cNvPr id="26" name="Text 24"/>
          <p:cNvSpPr/>
          <p:nvPr/>
        </p:nvSpPr>
        <p:spPr>
          <a:xfrm>
            <a:off x="6702552" y="3503592"/>
            <a:ext cx="4332427" cy="957925"/>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Payment flexibility and genre personalization should be part of the monetization strategy. The dashboard supports a broad but targeted approach: many channels matter, but offers should still be adjusted by segment and preference.</a:t>
            </a:r>
            <a:endParaRPr lang="en-US" sz="7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txBody>
          <a:bodyPr/>
          <a:p/>
        </p:txBody>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Business Recommendations</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Actions connected directly to EDA and Power BI findings</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13</a:t>
            </a:r>
            <a:endParaRPr lang="en-US" sz="580" dirty="0"/>
          </a:p>
        </p:txBody>
      </p:sp>
      <p:sp>
        <p:nvSpPr>
          <p:cNvPr id="9" name="Shape 7"/>
          <p:cNvSpPr/>
          <p:nvPr/>
        </p:nvSpPr>
        <p:spPr>
          <a:xfrm>
            <a:off x="685800" y="870120"/>
            <a:ext cx="3390595" cy="1036929"/>
          </a:xfrm>
          <a:prstGeom prst="roundRect">
            <a:avLst>
              <a:gd name="adj" fmla="val 476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0" name="Shape 8"/>
          <p:cNvSpPr/>
          <p:nvPr/>
        </p:nvSpPr>
        <p:spPr>
          <a:xfrm>
            <a:off x="685800" y="870120"/>
            <a:ext cx="75346" cy="1036929"/>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1" name="Text 9"/>
          <p:cNvSpPr/>
          <p:nvPr/>
        </p:nvSpPr>
        <p:spPr>
          <a:xfrm>
            <a:off x="850392" y="1016424"/>
            <a:ext cx="3108045"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1. Protect Whales</a:t>
            </a:r>
            <a:endParaRPr lang="en-US" sz="940" dirty="0"/>
          </a:p>
        </p:txBody>
      </p:sp>
      <p:sp>
        <p:nvSpPr>
          <p:cNvPr id="12" name="Text 10"/>
          <p:cNvSpPr/>
          <p:nvPr/>
        </p:nvSpPr>
        <p:spPr>
          <a:xfrm>
            <a:off x="850392" y="1309032"/>
            <a:ext cx="3108045" cy="46414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Create loyalty benefits, VIP bundles, and exclusive content for the highest-value segment.</a:t>
            </a:r>
            <a:endParaRPr lang="en-US" sz="740" dirty="0"/>
          </a:p>
        </p:txBody>
      </p:sp>
      <p:sp>
        <p:nvSpPr>
          <p:cNvPr id="13" name="Shape 11"/>
          <p:cNvSpPr/>
          <p:nvPr/>
        </p:nvSpPr>
        <p:spPr>
          <a:xfrm>
            <a:off x="4434840" y="870120"/>
            <a:ext cx="3390595" cy="1036929"/>
          </a:xfrm>
          <a:prstGeom prst="roundRect">
            <a:avLst>
              <a:gd name="adj" fmla="val 476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4" name="Shape 12"/>
          <p:cNvSpPr/>
          <p:nvPr/>
        </p:nvSpPr>
        <p:spPr>
          <a:xfrm>
            <a:off x="4434840" y="870120"/>
            <a:ext cx="75346" cy="1036929"/>
          </a:xfrm>
          <a:prstGeom prst="rect">
            <a:avLst/>
          </a:prstGeom>
          <a:solidFill>
            <a:srgbClr val="F4D34D"/>
          </a:solidFill>
          <a:ln w="12700">
            <a:solidFill>
              <a:srgbClr val="F4D34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5" name="Text 13"/>
          <p:cNvSpPr/>
          <p:nvPr/>
        </p:nvSpPr>
        <p:spPr>
          <a:xfrm>
            <a:off x="4599432" y="1016424"/>
            <a:ext cx="3108045"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2. Upgrade Dolphins</a:t>
            </a:r>
            <a:endParaRPr lang="en-US" sz="940" dirty="0"/>
          </a:p>
        </p:txBody>
      </p:sp>
      <p:sp>
        <p:nvSpPr>
          <p:cNvPr id="16" name="Text 14"/>
          <p:cNvSpPr/>
          <p:nvPr/>
        </p:nvSpPr>
        <p:spPr>
          <a:xfrm>
            <a:off x="4599432" y="1309032"/>
            <a:ext cx="3108045" cy="46414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Use personalized offers to move medium spenders toward higher lifetime value.</a:t>
            </a:r>
            <a:endParaRPr lang="en-US" sz="740" dirty="0"/>
          </a:p>
        </p:txBody>
      </p:sp>
      <p:sp>
        <p:nvSpPr>
          <p:cNvPr id="17" name="Shape 15"/>
          <p:cNvSpPr/>
          <p:nvPr/>
        </p:nvSpPr>
        <p:spPr>
          <a:xfrm>
            <a:off x="8183880" y="870120"/>
            <a:ext cx="3390595" cy="1036929"/>
          </a:xfrm>
          <a:prstGeom prst="roundRect">
            <a:avLst>
              <a:gd name="adj" fmla="val 476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8" name="Shape 16"/>
          <p:cNvSpPr/>
          <p:nvPr/>
        </p:nvSpPr>
        <p:spPr>
          <a:xfrm>
            <a:off x="8183880" y="870120"/>
            <a:ext cx="75346" cy="1036929"/>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9" name="Text 17"/>
          <p:cNvSpPr/>
          <p:nvPr/>
        </p:nvSpPr>
        <p:spPr>
          <a:xfrm>
            <a:off x="8348472" y="1016424"/>
            <a:ext cx="3108045"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3. Reduce payment friction</a:t>
            </a:r>
            <a:endParaRPr lang="en-US" sz="940" dirty="0"/>
          </a:p>
        </p:txBody>
      </p:sp>
      <p:sp>
        <p:nvSpPr>
          <p:cNvPr id="20" name="Text 18"/>
          <p:cNvSpPr/>
          <p:nvPr/>
        </p:nvSpPr>
        <p:spPr>
          <a:xfrm>
            <a:off x="8348472" y="1309032"/>
            <a:ext cx="3108045" cy="46414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Maintain multiple payment methods because revenue is distributed across payment channels.</a:t>
            </a:r>
            <a:endParaRPr lang="en-US" sz="740" dirty="0"/>
          </a:p>
        </p:txBody>
      </p:sp>
      <p:sp>
        <p:nvSpPr>
          <p:cNvPr id="21" name="Shape 19"/>
          <p:cNvSpPr/>
          <p:nvPr/>
        </p:nvSpPr>
        <p:spPr>
          <a:xfrm>
            <a:off x="685800" y="2516040"/>
            <a:ext cx="3390595" cy="1036929"/>
          </a:xfrm>
          <a:prstGeom prst="roundRect">
            <a:avLst>
              <a:gd name="adj" fmla="val 476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2" name="Shape 20"/>
          <p:cNvSpPr/>
          <p:nvPr/>
        </p:nvSpPr>
        <p:spPr>
          <a:xfrm>
            <a:off x="685800" y="2516040"/>
            <a:ext cx="75346" cy="1036929"/>
          </a:xfrm>
          <a:prstGeom prst="rect">
            <a:avLst/>
          </a:prstGeom>
          <a:solidFill>
            <a:srgbClr val="2ECAC6"/>
          </a:solidFill>
          <a:ln w="12700">
            <a:solidFill>
              <a:srgbClr val="2ECAC6">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3" name="Text 21"/>
          <p:cNvSpPr/>
          <p:nvPr/>
        </p:nvSpPr>
        <p:spPr>
          <a:xfrm>
            <a:off x="850392" y="2662344"/>
            <a:ext cx="3108045"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4. Optimize Android first</a:t>
            </a:r>
            <a:endParaRPr lang="en-US" sz="940" dirty="0"/>
          </a:p>
        </p:txBody>
      </p:sp>
      <p:sp>
        <p:nvSpPr>
          <p:cNvPr id="24" name="Text 22"/>
          <p:cNvSpPr/>
          <p:nvPr/>
        </p:nvSpPr>
        <p:spPr>
          <a:xfrm>
            <a:off x="850392" y="2954952"/>
            <a:ext cx="3108045" cy="46414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Android is the largest platform group; prioritize performance, UX, and campaign testing there.</a:t>
            </a:r>
            <a:endParaRPr lang="en-US" sz="740" dirty="0"/>
          </a:p>
        </p:txBody>
      </p:sp>
      <p:sp>
        <p:nvSpPr>
          <p:cNvPr id="25" name="Shape 23"/>
          <p:cNvSpPr/>
          <p:nvPr/>
        </p:nvSpPr>
        <p:spPr>
          <a:xfrm>
            <a:off x="4434840" y="2516040"/>
            <a:ext cx="3390595" cy="1036929"/>
          </a:xfrm>
          <a:prstGeom prst="roundRect">
            <a:avLst>
              <a:gd name="adj" fmla="val 476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6" name="Shape 24"/>
          <p:cNvSpPr/>
          <p:nvPr/>
        </p:nvSpPr>
        <p:spPr>
          <a:xfrm>
            <a:off x="4434840" y="2516040"/>
            <a:ext cx="75346" cy="1036929"/>
          </a:xfrm>
          <a:prstGeom prst="rect">
            <a:avLst/>
          </a:prstGeom>
          <a:solidFill>
            <a:srgbClr val="FF6B6B"/>
          </a:solidFill>
          <a:ln w="12700">
            <a:solidFill>
              <a:srgbClr val="FF6B6B">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7" name="Text 25"/>
          <p:cNvSpPr/>
          <p:nvPr/>
        </p:nvSpPr>
        <p:spPr>
          <a:xfrm>
            <a:off x="4599432" y="2662344"/>
            <a:ext cx="3108045"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5. Localize top regions</a:t>
            </a:r>
            <a:endParaRPr lang="en-US" sz="940" dirty="0"/>
          </a:p>
        </p:txBody>
      </p:sp>
      <p:sp>
        <p:nvSpPr>
          <p:cNvPr id="28" name="Text 26"/>
          <p:cNvSpPr/>
          <p:nvPr/>
        </p:nvSpPr>
        <p:spPr>
          <a:xfrm>
            <a:off x="4599432" y="2954952"/>
            <a:ext cx="3108045" cy="46414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Asia and Europe should receive localized campaigns, pricing experiments, and events.</a:t>
            </a:r>
            <a:endParaRPr lang="en-US" sz="740" dirty="0"/>
          </a:p>
        </p:txBody>
      </p:sp>
      <p:sp>
        <p:nvSpPr>
          <p:cNvPr id="29" name="Shape 27"/>
          <p:cNvSpPr/>
          <p:nvPr/>
        </p:nvSpPr>
        <p:spPr>
          <a:xfrm>
            <a:off x="8183880" y="2516040"/>
            <a:ext cx="3390595" cy="1036929"/>
          </a:xfrm>
          <a:prstGeom prst="roundRect">
            <a:avLst>
              <a:gd name="adj" fmla="val 4762"/>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0" name="Shape 28"/>
          <p:cNvSpPr/>
          <p:nvPr/>
        </p:nvSpPr>
        <p:spPr>
          <a:xfrm>
            <a:off x="8183880" y="2516040"/>
            <a:ext cx="75346" cy="1036929"/>
          </a:xfrm>
          <a:prstGeom prst="rect">
            <a:avLst/>
          </a:prstGeom>
          <a:solidFill>
            <a:srgbClr val="8E5CF3"/>
          </a:solidFill>
          <a:ln w="12700">
            <a:solidFill>
              <a:srgbClr val="8E5CF3">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31" name="Text 29"/>
          <p:cNvSpPr/>
          <p:nvPr/>
        </p:nvSpPr>
        <p:spPr>
          <a:xfrm>
            <a:off x="8348472" y="2662344"/>
            <a:ext cx="3108045"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6. Personalize by genre</a:t>
            </a:r>
            <a:endParaRPr lang="en-US" sz="940" dirty="0"/>
          </a:p>
        </p:txBody>
      </p:sp>
      <p:sp>
        <p:nvSpPr>
          <p:cNvPr id="32" name="Text 30"/>
          <p:cNvSpPr/>
          <p:nvPr/>
        </p:nvSpPr>
        <p:spPr>
          <a:xfrm>
            <a:off x="8348472" y="2954952"/>
            <a:ext cx="3108045" cy="46414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Use genre preferences to adjust bundles, events, and in-game content offers.</a:t>
            </a:r>
            <a:endParaRPr lang="en-US" sz="740" dirty="0"/>
          </a:p>
        </p:txBody>
      </p:sp>
      <p:sp>
        <p:nvSpPr>
          <p:cNvPr id="33" name="Text 31"/>
          <p:cNvSpPr/>
          <p:nvPr/>
        </p:nvSpPr>
        <p:spPr>
          <a:xfrm>
            <a:off x="914400" y="5000000"/>
            <a:ext cx="10736884" cy="420000"/>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400" b="1" dirty="0">
                <a:solidFill>
                  <a:srgbClr val="F4D34D"/>
                </a:solidFill>
              </a:rPr>
              <a:t>Recommendation logic: combine segment value, payment preference, platform priority, and regional concentration into one monetization plan.</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1527"/>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1527"/>
          </a:solidFill>
          <a:ln w="12700">
            <a:solidFill>
              <a:srgbClr val="071527">
                <a:alpha val="0"/>
              </a:srgbClr>
            </a:solidFill>
            <a:prstDash val="solid"/>
          </a:ln>
        </p:spPr>
        <p:txBody>
          <a:bodyPr/>
          <a:p/>
        </p:txBody>
      </p:sp>
      <p:sp>
        <p:nvSpPr>
          <p:cNvPr id="3" name="Shape 1"/>
          <p:cNvSpPr/>
          <p:nvPr/>
        </p:nvSpPr>
        <p:spPr>
          <a:xfrm>
            <a:off x="10241280" y="594360"/>
            <a:ext cx="1325880" cy="1325880"/>
          </a:xfrm>
          <a:prstGeom prst="arc">
            <a:avLst/>
          </a:prstGeom>
          <a:noFill/>
          <a:ln w="15240">
            <a:solidFill>
              <a:srgbClr val="2ECAC6">
                <a:alpha val="58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4" name="Shape 2"/>
          <p:cNvSpPr/>
          <p:nvPr/>
        </p:nvSpPr>
        <p:spPr>
          <a:xfrm>
            <a:off x="10652760" y="182880"/>
            <a:ext cx="1051560" cy="1051560"/>
          </a:xfrm>
          <a:prstGeom prst="arc">
            <a:avLst/>
          </a:prstGeom>
          <a:noFill/>
          <a:ln w="10160">
            <a:solidFill>
              <a:srgbClr val="2F80ED">
                <a:alpha val="4000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5" name="Text 3"/>
          <p:cNvSpPr/>
          <p:nvPr/>
        </p:nvSpPr>
        <p:spPr>
          <a:xfrm>
            <a:off x="320040" y="274320"/>
            <a:ext cx="7863840" cy="310896"/>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2600" b="1" dirty="0">
                <a:solidFill>
                  <a:srgbClr val="FFFFFF"/>
                </a:solidFill>
                <a:latin typeface="Aptos Display" pitchFamily="34" charset="0"/>
                <a:ea typeface="Aptos Display" pitchFamily="34" charset="-122"/>
                <a:cs typeface="Aptos Display" pitchFamily="34" charset="-120"/>
              </a:rPr>
              <a:t>Final Conclusion</a:t>
            </a:r>
            <a:endParaRPr lang="en-US" sz="2000" dirty="0"/>
          </a:p>
        </p:txBody>
      </p:sp>
      <p:sp>
        <p:nvSpPr>
          <p:cNvPr id="6" name="Text 4"/>
          <p:cNvSpPr/>
          <p:nvPr/>
        </p:nvSpPr>
        <p:spPr>
          <a:xfrm>
            <a:off x="329184" y="658368"/>
            <a:ext cx="7772400" cy="164592"/>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350" dirty="0">
                <a:solidFill>
                  <a:srgbClr val="2ECAC6"/>
                </a:solidFill>
              </a:rPr>
              <a:t>What the analysis says about mobile game in-app purchase behavior</a:t>
            </a:r>
            <a:endParaRPr lang="en-US" sz="660" dirty="0"/>
          </a:p>
        </p:txBody>
      </p:sp>
      <p:sp>
        <p:nvSpPr>
          <p:cNvPr id="7" name="Text 5"/>
          <p:cNvSpPr/>
          <p:nvPr/>
        </p:nvSpPr>
        <p:spPr>
          <a:xfrm>
            <a:off x="228600" y="6556248"/>
            <a:ext cx="5303520" cy="109728"/>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900" dirty="0">
                <a:solidFill>
                  <a:srgbClr val="6F8198"/>
                </a:solidFill>
              </a:rPr>
              <a:t>Mobile Game In-App Purchase Behavior Analysis</a:t>
            </a:r>
            <a:endParaRPr lang="en-US" sz="580" dirty="0"/>
          </a:p>
        </p:txBody>
      </p:sp>
      <p:sp>
        <p:nvSpPr>
          <p:cNvPr id="8" name="Text 6"/>
          <p:cNvSpPr/>
          <p:nvPr/>
        </p:nvSpPr>
        <p:spPr>
          <a:xfrm>
            <a:off x="11631168" y="6556248"/>
            <a:ext cx="256032" cy="109728"/>
          </a:xfrm>
          <a:prstGeom prst="rect">
            <a:avLst/>
          </a:prstGeom>
          <a:noFill/>
          <a:ln/>
        </p:spPr>
        <p:txBody>
          <a:bodyPr wrap="square" lIns="27432" tIns="18288" rIns="27432" bIns="18288" rtlCol="0" anchor="t">
            <a:noAutofit/>
          </a:bodyPr>
          <a:lstStyle/>
          <a:p>
            <a:pPr algn="r" indent="0" marL="0">
              <a:lnSpc>
                <a:spcPct val="100000"/>
              </a:lnSpc>
              <a:spcBef>
                <a:spcPts val="0"/>
              </a:spcBef>
              <a:spcAft>
                <a:spcPts val="0"/>
              </a:spcAft>
              <a:buNone/>
            </a:pPr>
            <a:r>
              <a:rPr lang="en-US" sz="950" dirty="0">
                <a:solidFill>
                  <a:srgbClr val="6F8198"/>
                </a:solidFill>
              </a:rPr>
              <a:t>14</a:t>
            </a:r>
            <a:endParaRPr lang="en-US" sz="580" dirty="0"/>
          </a:p>
        </p:txBody>
      </p:sp>
      <p:sp>
        <p:nvSpPr>
          <p:cNvPr id="9" name="Text 7"/>
          <p:cNvSpPr/>
          <p:nvPr/>
        </p:nvSpPr>
        <p:spPr>
          <a:xfrm>
            <a:off x="731520" y="870120"/>
            <a:ext cx="2072030" cy="177759"/>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2ECAC6"/>
                </a:solidFill>
              </a:rPr>
              <a:t>Main conclusion</a:t>
            </a:r>
            <a:endParaRPr lang="en-US" sz="820" dirty="0"/>
          </a:p>
        </p:txBody>
      </p:sp>
      <p:sp>
        <p:nvSpPr>
          <p:cNvPr id="10" name="Text 8"/>
          <p:cNvSpPr/>
          <p:nvPr/>
        </p:nvSpPr>
        <p:spPr>
          <a:xfrm>
            <a:off x="731520" y="1171872"/>
            <a:ext cx="8005572" cy="720000"/>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The game shows strong monetization performance, but revenue is concentrated in a small high-value segment.</a:t>
            </a:r>
            <a:endParaRPr lang="en-US" sz="2100" dirty="0"/>
          </a:p>
        </p:txBody>
      </p:sp>
      <p:sp>
        <p:nvSpPr>
          <p:cNvPr id="11" name="Shape 9"/>
          <p:cNvSpPr/>
          <p:nvPr/>
        </p:nvSpPr>
        <p:spPr>
          <a:xfrm>
            <a:off x="731520" y="2698920"/>
            <a:ext cx="3343503" cy="987552"/>
          </a:xfrm>
          <a:prstGeom prst="roundRect">
            <a:avLst>
              <a:gd name="adj" fmla="val 5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2" name="Shape 10"/>
          <p:cNvSpPr/>
          <p:nvPr/>
        </p:nvSpPr>
        <p:spPr>
          <a:xfrm>
            <a:off x="731520" y="2698920"/>
            <a:ext cx="75346" cy="987552"/>
          </a:xfrm>
          <a:prstGeom prst="rect">
            <a:avLst/>
          </a:prstGeom>
          <a:solidFill>
            <a:srgbClr val="FF6B6B"/>
          </a:solidFill>
          <a:ln w="12700">
            <a:solidFill>
              <a:srgbClr val="FF6B6B">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3" name="Text 11"/>
          <p:cNvSpPr/>
          <p:nvPr/>
        </p:nvSpPr>
        <p:spPr>
          <a:xfrm>
            <a:off x="896112" y="2845224"/>
            <a:ext cx="306095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EDA conclusion</a:t>
            </a:r>
            <a:endParaRPr lang="en-US" sz="940" dirty="0"/>
          </a:p>
        </p:txBody>
      </p:sp>
      <p:sp>
        <p:nvSpPr>
          <p:cNvPr id="14" name="Text 12"/>
          <p:cNvSpPr/>
          <p:nvPr/>
        </p:nvSpPr>
        <p:spPr>
          <a:xfrm>
            <a:off x="896112" y="3137832"/>
            <a:ext cx="3060954" cy="41477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Spending is highly skewed and only weakly linked to general gameplay engagement.</a:t>
            </a:r>
            <a:endParaRPr lang="en-US" sz="740" dirty="0"/>
          </a:p>
        </p:txBody>
      </p:sp>
      <p:sp>
        <p:nvSpPr>
          <p:cNvPr id="15" name="Shape 13"/>
          <p:cNvSpPr/>
          <p:nvPr/>
        </p:nvSpPr>
        <p:spPr>
          <a:xfrm>
            <a:off x="4434840" y="2698920"/>
            <a:ext cx="3343503" cy="987552"/>
          </a:xfrm>
          <a:prstGeom prst="roundRect">
            <a:avLst>
              <a:gd name="adj" fmla="val 5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6" name="Shape 14"/>
          <p:cNvSpPr/>
          <p:nvPr/>
        </p:nvSpPr>
        <p:spPr>
          <a:xfrm>
            <a:off x="4434840" y="2698920"/>
            <a:ext cx="75346" cy="987552"/>
          </a:xfrm>
          <a:prstGeom prst="rect">
            <a:avLst/>
          </a:prstGeom>
          <a:solidFill>
            <a:srgbClr val="2F80ED"/>
          </a:solidFill>
          <a:ln w="12700">
            <a:solidFill>
              <a:srgbClr val="2F80ED">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17" name="Text 15"/>
          <p:cNvSpPr/>
          <p:nvPr/>
        </p:nvSpPr>
        <p:spPr>
          <a:xfrm>
            <a:off x="4599432" y="2845224"/>
            <a:ext cx="306095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PBI conclusion</a:t>
            </a:r>
            <a:endParaRPr lang="en-US" sz="940" dirty="0"/>
          </a:p>
        </p:txBody>
      </p:sp>
      <p:sp>
        <p:nvSpPr>
          <p:cNvPr id="18" name="Text 16"/>
          <p:cNvSpPr/>
          <p:nvPr/>
        </p:nvSpPr>
        <p:spPr>
          <a:xfrm>
            <a:off x="4599432" y="3137832"/>
            <a:ext cx="3060954" cy="41477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Revenue varies by segment, region, platform, payment method, and age group.</a:t>
            </a:r>
            <a:endParaRPr lang="en-US" sz="740" dirty="0"/>
          </a:p>
        </p:txBody>
      </p:sp>
      <p:sp>
        <p:nvSpPr>
          <p:cNvPr id="19" name="Shape 17"/>
          <p:cNvSpPr/>
          <p:nvPr/>
        </p:nvSpPr>
        <p:spPr>
          <a:xfrm>
            <a:off x="8138160" y="2698920"/>
            <a:ext cx="3343503" cy="987552"/>
          </a:xfrm>
          <a:prstGeom prst="roundRect">
            <a:avLst>
              <a:gd name="adj" fmla="val 5000"/>
            </a:avLst>
          </a:prstGeom>
          <a:solidFill>
            <a:srgbClr val="0E253E"/>
          </a:solidFill>
          <a:ln w="9525">
            <a:solidFill>
              <a:srgbClr val="24405F"/>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0" name="Shape 18"/>
          <p:cNvSpPr/>
          <p:nvPr/>
        </p:nvSpPr>
        <p:spPr>
          <a:xfrm>
            <a:off x="8138160" y="2698920"/>
            <a:ext cx="75346" cy="987552"/>
          </a:xfrm>
          <a:prstGeom prst="rect">
            <a:avLst/>
          </a:prstGeom>
          <a:solidFill>
            <a:srgbClr val="16C79A"/>
          </a:solidFill>
          <a:ln w="12700">
            <a:solidFill>
              <a:srgbClr val="16C79A">
                <a:alpha val="0"/>
              </a:srgbClr>
            </a:solidFill>
            <a:prstDash val="solid"/>
          </a:ln>
        </p:spPr>
        <p:txBody>
          <a:bodyPr lIns="27432" rIns="27432" tIns="18288" bIns="18288" wrap="square" anchor="t">
            <a:noAutofit/>
          </a:bodyPr>
          <a:p>
            <a:pPr>
              <a:lnSpc>
                <a:spcPct val="100000"/>
              </a:lnSpc>
              <a:spcBef>
                <a:spcPts val="0"/>
              </a:spcBef>
              <a:spcAft>
                <a:spcPts val="0"/>
              </a:spcAft>
              <a:defRPr sz="1250"/>
            </a:pPr>
          </a:p>
        </p:txBody>
      </p:sp>
      <p:sp>
        <p:nvSpPr>
          <p:cNvPr id="21" name="Text 19"/>
          <p:cNvSpPr/>
          <p:nvPr/>
        </p:nvSpPr>
        <p:spPr>
          <a:xfrm>
            <a:off x="8302752" y="2845224"/>
            <a:ext cx="3060954" cy="21726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600" b="1" dirty="0">
                <a:solidFill>
                  <a:srgbClr val="FFFFFF"/>
                </a:solidFill>
              </a:rPr>
              <a:t>Business conclusion</a:t>
            </a:r>
            <a:endParaRPr lang="en-US" sz="940" dirty="0"/>
          </a:p>
        </p:txBody>
      </p:sp>
      <p:sp>
        <p:nvSpPr>
          <p:cNvPr id="22" name="Text 20"/>
          <p:cNvSpPr/>
          <p:nvPr/>
        </p:nvSpPr>
        <p:spPr>
          <a:xfrm>
            <a:off x="8302752" y="3137832"/>
            <a:ext cx="3060954" cy="414771"/>
          </a:xfrm>
          <a:prstGeom prst="rect">
            <a:avLst/>
          </a:prstGeom>
          <a:noFill/>
          <a:ln/>
        </p:spPr>
        <p:txBody>
          <a:bodyPr wrap="square" lIns="27432" tIns="18288" rIns="27432" bIns="18288" rtlCol="0" anchor="t">
            <a:noAutofit/>
          </a:bodyPr>
          <a:lstStyle/>
          <a:p>
            <a:pPr indent="0" marL="0">
              <a:lnSpc>
                <a:spcPct val="100000"/>
              </a:lnSpc>
              <a:spcBef>
                <a:spcPts val="0"/>
              </a:spcBef>
              <a:spcAft>
                <a:spcPts val="0"/>
              </a:spcAft>
              <a:buNone/>
            </a:pPr>
            <a:r>
              <a:rPr lang="en-US" sz="1250" dirty="0">
                <a:solidFill>
                  <a:srgbClr val="B9C9D8"/>
                </a:solidFill>
              </a:rPr>
              <a:t>Best next actions are retention of high-value users and personalization of monetization offers.</a:t>
            </a:r>
            <a:endParaRPr lang="en-US" sz="740" dirty="0"/>
          </a:p>
        </p:txBody>
      </p:sp>
      <p:sp>
        <p:nvSpPr>
          <p:cNvPr id="23" name="Shape 21"/>
          <p:cNvSpPr/>
          <p:nvPr/>
        </p:nvSpPr>
        <p:spPr>
          <a:xfrm>
            <a:off x="2103120" y="4802040"/>
            <a:ext cx="8193938" cy="0"/>
          </a:xfrm>
          <a:prstGeom prst="line">
            <a:avLst/>
          </a:prstGeom>
          <a:noFill/>
          <a:ln w="27940">
            <a:solidFill>
              <a:srgbClr val="F4D34D"/>
            </a:solidFill>
            <a:prstDash val="solid"/>
          </a:ln>
        </p:spPr>
        <p:txBody>
          <a:bodyPr lIns="27432" rIns="27432" tIns="18288" bIns="18288" wrap="square" anchor="t">
            <a:noAutofit/>
          </a:bodyPr>
          <a:p>
            <a:pPr>
              <a:lnSpc>
                <a:spcPct val="100000"/>
              </a:lnSpc>
              <a:spcBef>
                <a:spcPts val="0"/>
              </a:spcBef>
              <a:spcAft>
                <a:spcPts val="0"/>
              </a:spcAft>
              <a:defRPr sz="1600"/>
            </a:pPr>
          </a:p>
        </p:txBody>
      </p:sp>
      <p:sp>
        <p:nvSpPr>
          <p:cNvPr id="24" name="Text 22"/>
          <p:cNvSpPr/>
          <p:nvPr/>
        </p:nvSpPr>
        <p:spPr>
          <a:xfrm>
            <a:off x="0" y="5259240"/>
            <a:ext cx="12191695" cy="375269"/>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2600" b="1" dirty="0">
                <a:solidFill>
                  <a:srgbClr val="FFFFFF"/>
                </a:solidFill>
              </a:rPr>
              <a:t>Q&amp;A</a:t>
            </a:r>
            <a:endParaRPr lang="en-US" sz="2300" dirty="0"/>
          </a:p>
        </p:txBody>
      </p:sp>
      <p:sp>
        <p:nvSpPr>
          <p:cNvPr id="25" name="Text 23"/>
          <p:cNvSpPr/>
          <p:nvPr/>
        </p:nvSpPr>
        <p:spPr>
          <a:xfrm>
            <a:off x="0" y="5670720"/>
            <a:ext cx="12191695" cy="177759"/>
          </a:xfrm>
          <a:prstGeom prst="rect">
            <a:avLst/>
          </a:prstGeom>
          <a:noFill/>
          <a:ln/>
        </p:spPr>
        <p:txBody>
          <a:bodyPr wrap="square" lIns="27432" tIns="18288" rIns="27432" bIns="18288" rtlCol="0" anchor="t">
            <a:noAutofit/>
          </a:bodyPr>
          <a:lstStyle/>
          <a:p>
            <a:pPr algn="ctr" indent="0" marL="0">
              <a:lnSpc>
                <a:spcPct val="100000"/>
              </a:lnSpc>
              <a:spcBef>
                <a:spcPts val="0"/>
              </a:spcBef>
              <a:spcAft>
                <a:spcPts val="0"/>
              </a:spcAft>
              <a:buNone/>
            </a:pPr>
            <a:r>
              <a:rPr lang="en-US" sz="1300" dirty="0">
                <a:solidFill>
                  <a:srgbClr val="2ECAC6"/>
                </a:solidFill>
              </a:rPr>
              <a:t>Thank you</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University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Game IAP Behavior Analysis - Final Presentation</dc:title>
  <dc:subject>Mobile Game In-App Purchase Behavior Analysis</dc:subject>
  <dc:creator>OpenAI</dc:creator>
  <cp:lastModifiedBy>OpenAI</cp:lastModifiedBy>
  <cp:revision>1</cp:revision>
  <dcterms:created xsi:type="dcterms:W3CDTF">2026-07-04T12:40:34Z</dcterms:created>
  <dcterms:modified xsi:type="dcterms:W3CDTF">2026-07-04T12:40:34Z</dcterms:modified>
</cp:coreProperties>
</file>